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37a405a648e4a0f" /><Relationship Type="http://schemas.openxmlformats.org/officeDocument/2006/relationships/extended-properties" Target="/docProps/app.xml" Id="R22e87419f3f048a4" /><Relationship Type="http://schemas.openxmlformats.org/officeDocument/2006/relationships/officeDocument" Target="/ppt/presentation.xml" Id="R425d9c76e3ec4d44" /></Relationships>
</file>

<file path=ppt/presentation.xml><?xml version="1.0" encoding="utf-8"?>
<p:presentation xmlns:p="http://schemas.openxmlformats.org/presentationml/2006/main">
  <p:sldMasterIdLst>
    <p:sldMasterId xmlns:r="http://schemas.openxmlformats.org/officeDocument/2006/relationships" id="2147483648" r:id="R9128c52477fd48df"/>
  </p:sldMasterIdLst>
  <p:notesMasterIdLst>
    <p:notesMasterId xmlns:r="http://schemas.openxmlformats.org/officeDocument/2006/relationships" r:id="R7ba11cc257424837"/>
  </p:notesMasterIdLst>
  <p:sldIdLst>
    <p:sldId xmlns:r="http://schemas.openxmlformats.org/officeDocument/2006/relationships" id="256" r:id="R6cc6361406f9486f"/>
    <p:sldId xmlns:r="http://schemas.openxmlformats.org/officeDocument/2006/relationships" id="257" r:id="R0f30c4324a524ac6"/>
    <p:sldId xmlns:r="http://schemas.openxmlformats.org/officeDocument/2006/relationships" id="258" r:id="R869a820ae025486e"/>
    <p:sldId xmlns:r="http://schemas.openxmlformats.org/officeDocument/2006/relationships" id="259" r:id="R77995e15c1ee409f"/>
    <p:sldId xmlns:r="http://schemas.openxmlformats.org/officeDocument/2006/relationships" id="260" r:id="R30fd49163e2b428b"/>
    <p:sldId xmlns:r="http://schemas.openxmlformats.org/officeDocument/2006/relationships" id="261" r:id="R7f017362d3ae476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cb6f1455d554afa" /><Relationship Type="http://schemas.openxmlformats.org/officeDocument/2006/relationships/slideMaster" Target="/ppt/slideMasters/slideMaster1.xml" Id="R9128c52477fd48df" /><Relationship Type="http://schemas.openxmlformats.org/officeDocument/2006/relationships/notesMaster" Target="/ppt/notesMasters/notesMaster1.xml" Id="R7ba11cc257424837" /><Relationship Type="http://schemas.openxmlformats.org/officeDocument/2006/relationships/presProps" Target="/ppt/presProps.xml" Id="R86f987163ebd451c" /><Relationship Type="http://schemas.openxmlformats.org/officeDocument/2006/relationships/tableStyles" Target="/ppt/tableStyles.xml" Id="R291c25689c324389" /><Relationship Type="http://schemas.openxmlformats.org/officeDocument/2006/relationships/slide" Target="/ppt/slides/slide1.xml" Id="R6cc6361406f9486f" /><Relationship Type="http://schemas.openxmlformats.org/officeDocument/2006/relationships/slide" Target="/ppt/slides/slide2.xml" Id="R0f30c4324a524ac6" /><Relationship Type="http://schemas.openxmlformats.org/officeDocument/2006/relationships/slide" Target="/ppt/slides/slide3.xml" Id="R869a820ae025486e" /><Relationship Type="http://schemas.openxmlformats.org/officeDocument/2006/relationships/slide" Target="/ppt/slides/slide4.xml" Id="R77995e15c1ee409f" /><Relationship Type="http://schemas.openxmlformats.org/officeDocument/2006/relationships/slide" Target="/ppt/slides/slide5.xml" Id="R30fd49163e2b428b" /><Relationship Type="http://schemas.openxmlformats.org/officeDocument/2006/relationships/slide" Target="/ppt/slides/slide6.xml" Id="R7f017362d3ae476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09de120af82442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38cd0ad537b4e72" /><Relationship Type="http://schemas.openxmlformats.org/officeDocument/2006/relationships/notesMaster" Target="/ppt/notesMasters/notesMaster1.xml" Id="Rfcd9640f54c94893" /></Relationships>
</file>

<file path=ppt/notesSlides/_rels/notesSlide2.xml.rels>&#65279;<?xml version="1.0" encoding="utf-8"?><Relationships xmlns="http://schemas.openxmlformats.org/package/2006/relationships"><Relationship Type="http://schemas.openxmlformats.org/officeDocument/2006/relationships/slide" Target="/ppt/slides/slide2.xml" Id="R7ec1010660b344c8" /><Relationship Type="http://schemas.openxmlformats.org/officeDocument/2006/relationships/notesMaster" Target="/ppt/notesMasters/notesMaster1.xml" Id="R1833356ec3c547b5" /></Relationships>
</file>

<file path=ppt/notesSlides/_rels/notesSlide3.xml.rels>&#65279;<?xml version="1.0" encoding="utf-8"?><Relationships xmlns="http://schemas.openxmlformats.org/package/2006/relationships"><Relationship Type="http://schemas.openxmlformats.org/officeDocument/2006/relationships/slide" Target="/ppt/slides/slide3.xml" Id="Re9a1a23a05f24a3d" /><Relationship Type="http://schemas.openxmlformats.org/officeDocument/2006/relationships/notesMaster" Target="/ppt/notesMasters/notesMaster1.xml" Id="R3eba2276322147bf" /></Relationships>
</file>

<file path=ppt/notesSlides/_rels/notesSlide4.xml.rels>&#65279;<?xml version="1.0" encoding="utf-8"?><Relationships xmlns="http://schemas.openxmlformats.org/package/2006/relationships"><Relationship Type="http://schemas.openxmlformats.org/officeDocument/2006/relationships/slide" Target="/ppt/slides/slide4.xml" Id="Rb289352586b6417e" /><Relationship Type="http://schemas.openxmlformats.org/officeDocument/2006/relationships/notesMaster" Target="/ppt/notesMasters/notesMaster1.xml" Id="Rb335097c843f4af7" /></Relationships>
</file>

<file path=ppt/notesSlides/_rels/notesSlide5.xml.rels>&#65279;<?xml version="1.0" encoding="utf-8"?><Relationships xmlns="http://schemas.openxmlformats.org/package/2006/relationships"><Relationship Type="http://schemas.openxmlformats.org/officeDocument/2006/relationships/slide" Target="/ppt/slides/slide5.xml" Id="Rf5573ad73d324d80" /><Relationship Type="http://schemas.openxmlformats.org/officeDocument/2006/relationships/notesMaster" Target="/ppt/notesMasters/notesMaster1.xml" Id="Rd82cf0006fd34b73" /></Relationships>
</file>

<file path=ppt/notesSlides/_rels/notesSlide6.xml.rels>&#65279;<?xml version="1.0" encoding="utf-8"?><Relationships xmlns="http://schemas.openxmlformats.org/package/2006/relationships"><Relationship Type="http://schemas.openxmlformats.org/officeDocument/2006/relationships/slide" Target="/ppt/slides/slide6.xml" Id="Reef01881c36b4a49" /><Relationship Type="http://schemas.openxmlformats.org/officeDocument/2006/relationships/notesMaster" Target="/ppt/notesMasters/notesMaster1.xml" Id="Rb302b364472c4cb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[Show CDU student ID, then begin.]</a:t>
            </a:r>
          </a:p>
          <a:p xmlns:a="http://schemas.openxmlformats.org/drawingml/2006/main">
            <a:r>
              <a:t/>
            </a:r>
          </a:p>
          <a:p xmlns:a="http://schemas.openxmlformats.org/drawingml/2006/main">
            <a:r>
              <a:t>I'm Maximus Turner. My two questions compare midfielders and forwards: how far they run per ninety minutes, and what share of their defensive pressures directly challenges the ball carrier.</a:t>
            </a:r>
          </a:p>
          <a:p xmlns:a="http://schemas.openxmlformats.org/drawingml/2006/main">
            <a:r>
              <a:t/>
            </a:r>
          </a:p>
          <a:p xmlns:a="http://schemas.openxmlformats.org/drawingml/2006/main">
            <a:r>
              <a:t>The analysis joins FIFA player tables using player, team and position. A source check recovered 281 missing minutes records. Missing statistics stayed missing. Python performs the preparation, sampling, calculations and charts. For both questions, the null hypothesis is equal group means, tested against a two-sided alternative at five percent significance.</a:t>
            </a:r>
          </a:p>
          <a:p xmlns:a="http://schemas.openxmlformats.org/drawingml/2006/main">
            <a:r>
              <a:t/>
            </a:r>
          </a:p>
          <a:p xmlns:a="http://schemas.openxmlformats.org/drawingml/2006/main">
            <a:r>
              <a:t/>
            </a:r>
          </a:p>
          <a:p xmlns:a="http://schemas.openxmlformats.org/drawingml/2006/main">
            <a:r>
              <a:t>Source: FIFA player statistics and glossary, https://www.fifa.com/en/tournaments/mens/worldcup/canadamexicousa2026/statistics/player-statistics. Original snapshots 31 August 2026; minutes supplement 10 September 2026. Analysis outputs generated in Python. See docs/max_analysis_notes.md for complete methods and source limitations.</a:t>
            </a:r>
          </a:p>
          <a:p xmlns:a="http://schemas.openxmlformats.org/drawingml/2006/main">
            <a:r>
              <a:t>AI assistance: OpenAI Codex assisted with code, analysis review and slide/script drafting. Student must review, adapt and complete the official declaration.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For running, players needed at least 180 minutes and recorded distance. Distance divided by minutes, multiplied by ninety, makes playing duration comparable. The random samples contain thirty players per position, using fixed seeds.</a:t>
            </a:r>
          </a:p>
          <a:p xmlns:a="http://schemas.openxmlformats.org/drawingml/2006/main">
            <a:r>
              <a:t/>
            </a:r>
          </a:p>
          <a:p xmlns:a="http://schemas.openxmlformats.org/drawingml/2006/main">
            <a:r>
              <a:t>Midfielders averaged 9.74 kilometres per ninety, compared with 9.22 for forwards. The chart shows each mean and its ninety-five percent confidence interval. The estimated difference is 0.52 kilometres, with a difference interval from 0.22 to 0.82.</a:t>
            </a:r>
          </a:p>
          <a:p xmlns:a="http://schemas.openxmlformats.org/drawingml/2006/main">
            <a:r>
              <a:t/>
            </a:r>
          </a:p>
          <a:p xmlns:a="http://schemas.openxmlformats.org/drawingml/2006/main">
            <a:r>
              <a:t>The course two-sample test gives t equal to 3.59, with 29 degrees of freedom, and p equal to 0.0012. We reject the null hypothesis.</a:t>
            </a:r>
          </a:p>
          <a:p xmlns:a="http://schemas.openxmlformats.org/drawingml/2006/main">
            <a:r>
              <a:t/>
            </a:r>
          </a:p>
          <a:p xmlns:a="http://schemas.openxmlformats.org/drawingml/2006/main">
            <a:r>
              <a:t/>
            </a:r>
          </a:p>
          <a:p xmlns:a="http://schemas.openxmlformats.org/drawingml/2006/main">
            <a:r>
              <a:t>Source: FIFA player statistics and glossary, https://www.fifa.com/en/tournaments/mens/worldcup/canadamexicousa2026/statistics/player-statistics. Original snapshots 31 August 2026; minutes supplement 10 September 2026. Analysis outputs generated in Python. See docs/max_analysis_notes.md for complete methods and source limitations.</a:t>
            </a:r>
          </a:p>
          <a:p xmlns:a="http://schemas.openxmlformats.org/drawingml/2006/main">
            <a:r>
              <a:t>Group SD: MF 0.513, FW 0.608 km/90. Means/CI figure is a Python image to meet the assessment visualisation rule. Numerical data remain in outputs/task1_running_descriptive_and_ci.csv. Primary test uses conservative course df, Welch sensitivity p=0.000696.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The less obvious question concerns pressing composition. For each player, direct pressures divided by all pressures, multiplied by one hundred, gives a percentage. It describes pressing style, not success.</a:t>
            </a:r>
          </a:p>
          <a:p xmlns:a="http://schemas.openxmlformats.org/drawingml/2006/main">
            <a:r>
              <a:t/>
            </a:r>
          </a:p>
          <a:p xmlns:a="http://schemas.openxmlformats.org/drawingml/2006/main">
            <a:r>
              <a:t>Players needed at least ninety minutes and positive recorded pressures. Forty players were sampled per position. Midfielders averaged 17.08 percent, compared with 11.20 percent for forwards. The difference is 5.88 percentage points, with a ninety-five percent interval from 2.14 to 9.63.</a:t>
            </a:r>
          </a:p>
          <a:p xmlns:a="http://schemas.openxmlformats.org/drawingml/2006/main">
            <a:r>
              <a:t/>
            </a:r>
          </a:p>
          <a:p xmlns:a="http://schemas.openxmlformats.org/drawingml/2006/main">
            <a:r>
              <a:t>The test gives t equal to 3.18, with 39 degrees of freedom, and p equal to 0.0029. Again, we reject the null.</a:t>
            </a:r>
          </a:p>
          <a:p xmlns:a="http://schemas.openxmlformats.org/drawingml/2006/main">
            <a:r>
              <a:t/>
            </a:r>
          </a:p>
          <a:p xmlns:a="http://schemas.openxmlformats.org/drawingml/2006/main">
            <a:r>
              <a:t/>
            </a:r>
          </a:p>
          <a:p xmlns:a="http://schemas.openxmlformats.org/drawingml/2006/main">
            <a:r>
              <a:t>Source: FIFA player statistics and glossary, https://www.fifa.com/en/tournaments/mens/worldcup/canadamexicousa2026/statistics/player-statistics. Original snapshots 31 August 2026; minutes supplement 10 September 2026. Analysis outputs generated in Python. See docs/max_analysis_notes.md for complete methods and source limitations.</a:t>
            </a:r>
          </a:p>
          <a:p xmlns:a="http://schemas.openxmlformats.org/drawingml/2006/main">
            <a:r>
              <a:t>The mean is an unweighted average of player percentages, not a pooled event ratio or success rate. Group SD: MF 8.780, FW 7.742 percentage points. Numerical data: outputs/task2_pressing_descriptive_and_ci.csv. Welch sensitivity p=0.002128.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These findings are exploratory. The second question was selected after inspecting alternatives. Partial source coverage limits generalisation, and shared team tactics may weaken independence. Pressing is right-skewed, and plausible outliers were retained. Larger samples help, but do not remove these limitations.</a:t>
            </a:r>
          </a:p>
          <a:p xmlns:a="http://schemas.openxmlformats.org/drawingml/2006/main">
            <a:r>
              <a:t/>
            </a:r>
          </a:p>
          <a:p xmlns:a="http://schemas.openxmlformats.org/drawingml/2006/main">
            <a:r>
              <a:t>My main lessons are that incomplete joins change the sample, denominators change a question's meaning, and a small p-value needs context. These samples suggest midfielders run farther and apply a larger share of pressures directly. They do not establish that playing position causes either difference.</a:t>
            </a:r>
          </a:p>
          <a:p xmlns:a="http://schemas.openxmlformats.org/drawingml/2006/main">
            <a:r>
              <a:t/>
            </a:r>
          </a:p>
          <a:p xmlns:a="http://schemas.openxmlformats.org/drawingml/2006/main">
            <a:r>
              <a:t>[If another presenter follows, replace the final sentence or shorten the conclusion to add: "I'll now hand over for the next analysis." Keep total time under three minutes.]</a:t>
            </a:r>
          </a:p>
          <a:p xmlns:a="http://schemas.openxmlformats.org/drawingml/2006/main">
            <a:r>
              <a:t/>
            </a:r>
          </a:p>
          <a:p xmlns:a="http://schemas.openxmlformats.org/drawingml/2006/main">
            <a:r>
              <a:t>Source: FIFA player statistics and glossary, https://www.fifa.com/en/tournaments/mens/worldcup/canadamexicousa2026/statistics/player-statistics. Original snapshots 31 August 2026; minutes supplement 10 September 2026. Analysis outputs generated in Python. See docs/max_analysis_notes.md for complete methods and source limitations.</a:t>
            </a:r>
          </a:p>
          <a:p xmlns:a="http://schemas.openxmlformats.org/drawingml/2006/main">
            <a:r>
              <a:t>This concludes the narrated segment. Do not narrate appendix slides within the three-minute recording. Adapt handoff to the combined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FIFA player statistics and glossary, https://www.fifa.com/en/tournaments/mens/worldcup/canadamexicousa2026/statistics/player-statistics. Original snapshots 31 August 2026; minutes supplement 10 September 2026. Analysis outputs generated in Python. See docs/max_analysis_notes.md for complete methods and source limitations.</a:t>
            </a:r>
          </a:p>
          <a:p xmlns:a="http://schemas.openxmlformats.org/drawingml/2006/main">
            <a:r>
              <a:t>Course references: CDU HIT140 Week 2 descriptive statistics; Week 3 sampling and confidence intervals; Week 4 hypothesis testing and conservative df; Week 5 data preparation; Weeks 6-7 EDA and communication. Week 8 regression is outside Objective 1. Full notes and test outputs provide numerical detail.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FIFA player statistics and glossary, https://www.fifa.com/en/tournaments/mens/worldcup/canadamexicousa2026/statistics/player-statistics. Original snapshots 31 August 2026; minutes supplement 10 September 2026. Analysis outputs generated in Python. See docs/max_analysis_notes.md for complete methods and source limitations.</a:t>
            </a:r>
          </a:p>
          <a:p xmlns:a="http://schemas.openxmlformats.org/drawingml/2006/main">
            <a:r>
              <a:t>Running skewness MF 0.126, FW -0.391. Pressing skewness MF 0.953, FW 1.625. No normality claim is made for pressing. The CLT supports approximate mean inference with n=40 but does not remove clustering or selection bias. Physical leaderboard capture was partial and sorted by top speed. Zero-denominator and missing-metric cases are excluded rather than imputed.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e11a240607444d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a7857a66420486f" /><Relationship Type="http://schemas.openxmlformats.org/officeDocument/2006/relationships/slideLayout" Target="/ppt/slideLayouts/slideLayout1.xml" Id="R6a844311db5848e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a844311db5848e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c6a305f30e74e64" /><Relationship Type="http://schemas.openxmlformats.org/officeDocument/2006/relationships/notesSlide" Target="/ppt/notesSlides/notesSlide1.xml" Id="R76c1afadc5a5485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ecb23a289ee4af2" /><Relationship Type="http://schemas.openxmlformats.org/officeDocument/2006/relationships/image" Target="/ppt/media/image.png" Id="Re93fab66ab83488b" /><Relationship Type="http://schemas.openxmlformats.org/officeDocument/2006/relationships/notesSlide" Target="/ppt/notesSlides/notesSlide2.xml" Id="R14e2824a24ca4b9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f4f8a3f07634b99" /><Relationship Type="http://schemas.openxmlformats.org/officeDocument/2006/relationships/image" Target="/ppt/media/image2.png" Id="Raab5525e72794898" /><Relationship Type="http://schemas.openxmlformats.org/officeDocument/2006/relationships/notesSlide" Target="/ppt/notesSlides/notesSlide3.xml" Id="Raba49c8e696942f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e613551b796433d" /><Relationship Type="http://schemas.openxmlformats.org/officeDocument/2006/relationships/notesSlide" Target="/ppt/notesSlides/notesSlide4.xml" Id="R4fc37cd8a8fd4d2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240c07e9f7842a1" /><Relationship Type="http://schemas.openxmlformats.org/officeDocument/2006/relationships/notesSlide" Target="/ppt/notesSlides/notesSlide5.xml" Id="R346324929b714c0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0e4fea07402448e" /><Relationship Type="http://schemas.openxmlformats.org/officeDocument/2006/relationships/image" Target="/ppt/media/image3.png" Id="R3657a816610a48e4" /><Relationship Type="http://schemas.openxmlformats.org/officeDocument/2006/relationships/image" Target="/ppt/media/image4.png" Id="Rf96e63821eff4207" /><Relationship Type="http://schemas.openxmlformats.org/officeDocument/2006/relationships/notesSlide" Target="/ppt/notesSlides/notesSlide6.xml" Id="R2e1ec905d807429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3A4ECB8-E011-4021-B57D-D63C1AF21610}"/>
              </a:ext>
            </a:extLst>
          </p:cNvPr>
          <p:cNvSpPr>
            <a:spLocks xmlns:a="http://schemas.openxmlformats.org/drawingml/2006/main" noGrp="1"/>
          </p:cNvSpPr>
          <p:nvPr/>
        </p:nvSpPr>
        <p:spPr>
          <a:xfrm xmlns:a="http://schemas.openxmlformats.org/drawingml/2006/main">
            <a:off x="533400" y="3619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9313B"/>
                </a:solidFill>
                <a:latin typeface="Arial"/>
                <a:ea typeface="Arial"/>
                <a:cs typeface="Arial"/>
              </a:defRPr>
            </a:pPr>
            <a:r>
              <a:rPr sz="3300" b="1">
                <a:solidFill>
                  <a:srgbClr val="19313B"/>
                </a:solidFill>
                <a:latin typeface="Arial"/>
                <a:ea typeface="Arial"/>
                <a:cs typeface="Arial"/>
              </a:rPr>
              <a:t>Running and pressing by position</a:t>
            </a:r>
          </a:p>
        </p:txBody>
      </p:sp>
      <p:sp>
        <p:nvSpPr>
          <p:cNvPr id="2" name="">
            <a:extLst xmlns:a="http://schemas.openxmlformats.org/drawingml/2006/main">
              <a:ext uri="{FF2B5EF4-FFF2-40B4-BE49-F238E27FC236}">
                <a16:creationId xmlns:a16="http://schemas.microsoft.com/office/drawing/2014/main" id="{739741D4-822E-40F7-98DC-EF8518BC05C6}"/>
              </a:ext>
            </a:extLst>
          </p:cNvPr>
          <p:cNvSpPr>
            <a:spLocks xmlns:a="http://schemas.openxmlformats.org/drawingml/2006/main" noGrp="1"/>
          </p:cNvSpPr>
          <p:nvPr/>
        </p:nvSpPr>
        <p:spPr>
          <a:xfrm xmlns:a="http://schemas.openxmlformats.org/drawingml/2006/main">
            <a:off x="552450" y="1200150"/>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4666F"/>
                </a:solidFill>
                <a:latin typeface="Arial"/>
                <a:ea typeface="Arial"/>
                <a:cs typeface="Arial"/>
              </a:defRPr>
            </a:pPr>
            <a:r>
              <a:rPr sz="1875" b="0">
                <a:solidFill>
                  <a:srgbClr val="54666F"/>
                </a:solidFill>
                <a:latin typeface="Arial"/>
                <a:ea typeface="Arial"/>
                <a:cs typeface="Arial"/>
              </a:rPr>
              <a:t>FIFA World Cup 2026  /  Objective 1  /  Maximus Turner</a:t>
            </a:r>
          </a:p>
        </p:txBody>
      </p:sp>
      <p:sp>
        <p:nvSpPr>
          <p:cNvPr id="3" name="">
            <a:extLst xmlns:a="http://schemas.openxmlformats.org/drawingml/2006/main">
              <a:ext uri="{FF2B5EF4-FFF2-40B4-BE49-F238E27FC236}">
                <a16:creationId xmlns:a16="http://schemas.microsoft.com/office/drawing/2014/main" id="{BC15F10A-0743-41EC-A103-2D6C1682A72E}"/>
              </a:ext>
            </a:extLst>
          </p:cNvPr>
          <p:cNvSpPr>
            <a:spLocks xmlns:a="http://schemas.openxmlformats.org/drawingml/2006/main" noGrp="1"/>
          </p:cNvSpPr>
          <p:nvPr/>
        </p:nvSpPr>
        <p:spPr>
          <a:xfrm xmlns:a="http://schemas.openxmlformats.org/drawingml/2006/main">
            <a:off x="552450" y="6362700"/>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66F"/>
                </a:solidFill>
                <a:latin typeface="Arial"/>
                <a:ea typeface="Arial"/>
                <a:cs typeface="Arial"/>
              </a:defRPr>
            </a:pPr>
            <a:r>
              <a:rPr sz="1350" b="0">
                <a:solidFill>
                  <a:srgbClr val="54666F"/>
                </a:solidFill>
                <a:latin typeface="Arial"/>
                <a:ea typeface="Arial"/>
                <a:cs typeface="Arial"/>
              </a:rPr>
              <a:t>CDU HIT140  /  Maximus Turner</a:t>
            </a:r>
          </a:p>
        </p:txBody>
      </p:sp>
      <p:sp>
        <p:nvSpPr>
          <p:cNvPr id="4" name="">
            <a:extLst xmlns:a="http://schemas.openxmlformats.org/drawingml/2006/main">
              <a:ext uri="{FF2B5EF4-FFF2-40B4-BE49-F238E27FC236}">
                <a16:creationId xmlns:a16="http://schemas.microsoft.com/office/drawing/2014/main" id="{A528DDC9-215D-4A80-BD55-4112D9EB6081}"/>
              </a:ext>
            </a:extLst>
          </p:cNvPr>
          <p:cNvSpPr>
            <a:spLocks xmlns:a="http://schemas.openxmlformats.org/drawingml/2006/main" noGrp="1"/>
          </p:cNvSpPr>
          <p:nvPr/>
        </p:nvSpPr>
        <p:spPr>
          <a:xfrm xmlns:a="http://schemas.openxmlformats.org/drawingml/2006/main">
            <a:off x="11144250" y="63627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66F"/>
                </a:solidFill>
                <a:latin typeface="Arial"/>
                <a:ea typeface="Arial"/>
                <a:cs typeface="Arial"/>
              </a:defRPr>
            </a:pPr>
            <a:r>
              <a:rPr sz="1350" b="0">
                <a:solidFill>
                  <a:srgbClr val="54666F"/>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FADE3B7C-FC80-4638-92BE-D563A86DC73A}"/>
              </a:ext>
            </a:extLst>
          </p:cNvPr>
          <p:cNvSpPr>
            <a:spLocks xmlns:a="http://schemas.openxmlformats.org/drawingml/2006/main" noGrp="1"/>
          </p:cNvSpPr>
          <p:nvPr/>
        </p:nvSpPr>
        <p:spPr>
          <a:xfrm xmlns:a="http://schemas.openxmlformats.org/drawingml/2006/main">
            <a:off x="590550" y="21717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87F8C"/>
                </a:solidFill>
                <a:latin typeface="Arial"/>
                <a:ea typeface="Arial"/>
                <a:cs typeface="Arial"/>
              </a:defRPr>
            </a:pPr>
            <a:r>
              <a:rPr sz="2550" b="1">
                <a:solidFill>
                  <a:srgbClr val="087F8C"/>
                </a:solidFill>
                <a:latin typeface="Arial"/>
                <a:ea typeface="Arial"/>
                <a:cs typeface="Arial"/>
              </a:rPr>
              <a:t>Running distance per 90 minutes</a:t>
            </a:r>
          </a:p>
        </p:txBody>
      </p:sp>
      <p:sp>
        <p:nvSpPr>
          <p:cNvPr id="6" name="">
            <a:extLst xmlns:a="http://schemas.openxmlformats.org/drawingml/2006/main">
              <a:ext uri="{FF2B5EF4-FFF2-40B4-BE49-F238E27FC236}">
                <a16:creationId xmlns:a16="http://schemas.microsoft.com/office/drawing/2014/main" id="{914AACE1-40B7-42C7-A89F-00285582060B}"/>
              </a:ext>
            </a:extLst>
          </p:cNvPr>
          <p:cNvSpPr>
            <a:spLocks xmlns:a="http://schemas.openxmlformats.org/drawingml/2006/main" noGrp="1"/>
          </p:cNvSpPr>
          <p:nvPr/>
        </p:nvSpPr>
        <p:spPr>
          <a:xfrm xmlns:a="http://schemas.openxmlformats.org/drawingml/2006/main">
            <a:off x="590550" y="28765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87F8C"/>
                </a:solidFill>
                <a:latin typeface="Arial"/>
                <a:ea typeface="Arial"/>
                <a:cs typeface="Arial"/>
              </a:defRPr>
            </a:pPr>
            <a:r>
              <a:rPr sz="2550" b="1">
                <a:solidFill>
                  <a:srgbClr val="087F8C"/>
                </a:solidFill>
                <a:latin typeface="Arial"/>
                <a:ea typeface="Arial"/>
                <a:cs typeface="Arial"/>
              </a:rPr>
              <a:t>Direct pressures as a share of all pressures</a:t>
            </a:r>
          </a:p>
        </p:txBody>
      </p:sp>
      <p:sp>
        <p:nvSpPr>
          <p:cNvPr id="7" name="">
            <a:extLst xmlns:a="http://schemas.openxmlformats.org/drawingml/2006/main">
              <a:ext uri="{FF2B5EF4-FFF2-40B4-BE49-F238E27FC236}">
                <a16:creationId xmlns:a16="http://schemas.microsoft.com/office/drawing/2014/main" id="{8C9D7B12-BDEA-4A09-A8FF-FB4271C02E6D}"/>
              </a:ext>
            </a:extLst>
          </p:cNvPr>
          <p:cNvSpPr>
            <a:spLocks xmlns:a="http://schemas.openxmlformats.org/drawingml/2006/main" noGrp="1"/>
          </p:cNvSpPr>
          <p:nvPr/>
        </p:nvSpPr>
        <p:spPr>
          <a:xfrm xmlns:a="http://schemas.openxmlformats.org/drawingml/2006/main">
            <a:off x="590550" y="37338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9313B"/>
                </a:solidFill>
                <a:latin typeface="Arial"/>
                <a:ea typeface="Arial"/>
                <a:cs typeface="Arial"/>
              </a:defRPr>
            </a:pPr>
            <a:r>
              <a:rPr sz="2100" b="0">
                <a:solidFill>
                  <a:srgbClr val="19313B"/>
                </a:solidFill>
                <a:latin typeface="Arial"/>
                <a:ea typeface="Arial"/>
                <a:cs typeface="Arial"/>
              </a:rPr>
              <a:t>Midfielders and forwards in the captured eligible records</a:t>
            </a:r>
          </a:p>
        </p:txBody>
      </p:sp>
      <p:sp>
        <p:nvSpPr>
          <p:cNvPr id="8" name="">
            <a:extLst xmlns:a="http://schemas.openxmlformats.org/drawingml/2006/main">
              <a:ext uri="{FF2B5EF4-FFF2-40B4-BE49-F238E27FC236}">
                <a16:creationId xmlns:a16="http://schemas.microsoft.com/office/drawing/2014/main" id="{E6AEE1FD-C4BC-44FD-8FEB-CCE30C4D258B}"/>
              </a:ext>
            </a:extLst>
          </p:cNvPr>
          <p:cNvSpPr>
            <a:spLocks xmlns:a="http://schemas.openxmlformats.org/drawingml/2006/main" noGrp="1"/>
          </p:cNvSpPr>
          <p:nvPr/>
        </p:nvSpPr>
        <p:spPr>
          <a:xfrm xmlns:a="http://schemas.openxmlformats.org/drawingml/2006/main">
            <a:off x="590550" y="4391025"/>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9313B"/>
                </a:solidFill>
                <a:latin typeface="Arial"/>
                <a:ea typeface="Arial"/>
                <a:cs typeface="Arial"/>
              </a:defRPr>
            </a:pPr>
            <a:r>
              <a:rPr sz="2025" b="0">
                <a:solidFill>
                  <a:srgbClr val="19313B"/>
                </a:solidFill>
                <a:latin typeface="Arial"/>
                <a:ea typeface="Arial"/>
                <a:cs typeface="Arial"/>
              </a:rPr>
              <a:t>Validated joins and fixed random samples</a:t>
            </a:r>
          </a:p>
          <a:p xmlns:a="http://schemas.openxmlformats.org/drawingml/2006/main">
            <a:pPr>
              <a:defRPr sz="2025" b="0">
                <a:solidFill>
                  <a:srgbClr val="19313B"/>
                </a:solidFill>
                <a:latin typeface="Arial"/>
                <a:ea typeface="Arial"/>
                <a:cs typeface="Arial"/>
              </a:defRPr>
            </a:pPr>
            <a:r>
              <a:rPr sz="2025" b="0">
                <a:solidFill>
                  <a:srgbClr val="19313B"/>
                </a:solidFill>
                <a:latin typeface="Arial"/>
                <a:ea typeface="Arial"/>
                <a:cs typeface="Arial"/>
              </a:rPr>
              <a:t>Python preparation, statistics and visualisations</a:t>
            </a:r>
          </a:p>
        </p:txBody>
      </p:sp>
      <p:sp>
        <p:nvSpPr>
          <p:cNvPr id="9" name="">
            <a:extLst xmlns:a="http://schemas.openxmlformats.org/drawingml/2006/main">
              <a:ext uri="{FF2B5EF4-FFF2-40B4-BE49-F238E27FC236}">
                <a16:creationId xmlns:a16="http://schemas.microsoft.com/office/drawing/2014/main" id="{50365051-978F-48DA-A74B-26AB0B59A927}"/>
              </a:ext>
            </a:extLst>
          </p:cNvPr>
          <p:cNvSpPr>
            <a:spLocks xmlns:a="http://schemas.openxmlformats.org/drawingml/2006/main" noGrp="1"/>
          </p:cNvSpPr>
          <p:nvPr/>
        </p:nvSpPr>
        <p:spPr>
          <a:xfrm xmlns:a="http://schemas.openxmlformats.org/drawingml/2006/main">
            <a:off x="590550" y="5372100"/>
            <a:ext cx="9334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4666F"/>
                </a:solidFill>
                <a:latin typeface="Arial"/>
                <a:ea typeface="Arial"/>
                <a:cs typeface="Arial"/>
              </a:defRPr>
            </a:pPr>
            <a:r>
              <a:rPr sz="1800" b="0">
                <a:solidFill>
                  <a:srgbClr val="54666F"/>
                </a:solidFill>
                <a:latin typeface="Arial"/>
                <a:ea typeface="Arial"/>
                <a:cs typeface="Arial"/>
              </a:rPr>
              <a:t>For both: H0 equal group means  /  H1 different means</a:t>
            </a:r>
          </a:p>
          <a:p xmlns:a="http://schemas.openxmlformats.org/drawingml/2006/main">
            <a:pPr>
              <a:defRPr sz="1800" b="0">
                <a:solidFill>
                  <a:srgbClr val="54666F"/>
                </a:solidFill>
                <a:latin typeface="Arial"/>
                <a:ea typeface="Arial"/>
                <a:cs typeface="Arial"/>
              </a:defRPr>
            </a:pPr>
            <a:r>
              <a:rPr sz="1800" b="0">
                <a:solidFill>
                  <a:srgbClr val="54666F"/>
                </a:solidFill>
                <a:latin typeface="Arial"/>
                <a:ea typeface="Arial"/>
                <a:cs typeface="Arial"/>
              </a:rPr>
              <a:t>Two-sided independent t-tests, alpha = 0.05</a:t>
            </a:r>
          </a:p>
        </p:txBody>
      </p:sp>
    </p:spTree>
    <p:extLst>
      <p:ext uri="{BB962C8B-B14F-4D97-AF65-F5344CB8AC3E}">
        <p14:creationId xmlns:p14="http://schemas.microsoft.com/office/powerpoint/2010/main" val="145777399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7714A95-7DD3-4ED6-9B30-890F26293BF9}"/>
              </a:ext>
            </a:extLst>
          </p:cNvPr>
          <p:cNvSpPr>
            <a:spLocks xmlns:a="http://schemas.openxmlformats.org/drawingml/2006/main" noGrp="1"/>
          </p:cNvSpPr>
          <p:nvPr/>
        </p:nvSpPr>
        <p:spPr>
          <a:xfrm xmlns:a="http://schemas.openxmlformats.org/drawingml/2006/main">
            <a:off x="533400" y="3619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9313B"/>
                </a:solidFill>
                <a:latin typeface="Arial"/>
                <a:ea typeface="Arial"/>
                <a:cs typeface="Arial"/>
              </a:defRPr>
            </a:pPr>
            <a:r>
              <a:rPr sz="3300" b="1">
                <a:solidFill>
                  <a:srgbClr val="19313B"/>
                </a:solidFill>
                <a:latin typeface="Arial"/>
                <a:ea typeface="Arial"/>
                <a:cs typeface="Arial"/>
              </a:rPr>
              <a:t>Midfielders ran 0.52 km farther per 90</a:t>
            </a:r>
          </a:p>
        </p:txBody>
      </p:sp>
      <p:sp>
        <p:nvSpPr>
          <p:cNvPr id="2" name="">
            <a:extLst xmlns:a="http://schemas.openxmlformats.org/drawingml/2006/main">
              <a:ext uri="{FF2B5EF4-FFF2-40B4-BE49-F238E27FC236}">
                <a16:creationId xmlns:a16="http://schemas.microsoft.com/office/drawing/2014/main" id="{F3A9B4C1-B58D-4078-9166-0B378A8EFC5A}"/>
              </a:ext>
            </a:extLst>
          </p:cNvPr>
          <p:cNvSpPr>
            <a:spLocks xmlns:a="http://schemas.openxmlformats.org/drawingml/2006/main" noGrp="1"/>
          </p:cNvSpPr>
          <p:nvPr/>
        </p:nvSpPr>
        <p:spPr>
          <a:xfrm xmlns:a="http://schemas.openxmlformats.org/drawingml/2006/main">
            <a:off x="552450" y="1200150"/>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4666F"/>
                </a:solidFill>
                <a:latin typeface="Arial"/>
                <a:ea typeface="Arial"/>
                <a:cs typeface="Arial"/>
              </a:defRPr>
            </a:pPr>
            <a:r>
              <a:rPr sz="1875" b="0">
                <a:solidFill>
                  <a:srgbClr val="54666F"/>
                </a:solidFill>
                <a:latin typeface="Arial"/>
                <a:ea typeface="Arial"/>
                <a:cs typeface="Arial"/>
              </a:rPr>
              <a:t>At least 180 minutes  /  Random sample of 30 per position</a:t>
            </a:r>
          </a:p>
        </p:txBody>
      </p:sp>
      <p:sp>
        <p:nvSpPr>
          <p:cNvPr id="3" name="">
            <a:extLst xmlns:a="http://schemas.openxmlformats.org/drawingml/2006/main">
              <a:ext uri="{FF2B5EF4-FFF2-40B4-BE49-F238E27FC236}">
                <a16:creationId xmlns:a16="http://schemas.microsoft.com/office/drawing/2014/main" id="{31F66A48-AFDD-4B77-84F4-986E5741E88A}"/>
              </a:ext>
            </a:extLst>
          </p:cNvPr>
          <p:cNvSpPr>
            <a:spLocks xmlns:a="http://schemas.openxmlformats.org/drawingml/2006/main" noGrp="1"/>
          </p:cNvSpPr>
          <p:nvPr/>
        </p:nvSpPr>
        <p:spPr>
          <a:xfrm xmlns:a="http://schemas.openxmlformats.org/drawingml/2006/main">
            <a:off x="552450" y="6362700"/>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66F"/>
                </a:solidFill>
                <a:latin typeface="Arial"/>
                <a:ea typeface="Arial"/>
                <a:cs typeface="Arial"/>
              </a:defRPr>
            </a:pPr>
            <a:r>
              <a:rPr sz="1350" b="0">
                <a:solidFill>
                  <a:srgbClr val="54666F"/>
                </a:solidFill>
                <a:latin typeface="Arial"/>
                <a:ea typeface="Arial"/>
                <a:cs typeface="Arial"/>
              </a:rPr>
              <a:t>CDU HIT140  /  Maximus Turner</a:t>
            </a:r>
          </a:p>
        </p:txBody>
      </p:sp>
      <p:sp>
        <p:nvSpPr>
          <p:cNvPr id="4" name="">
            <a:extLst xmlns:a="http://schemas.openxmlformats.org/drawingml/2006/main">
              <a:ext uri="{FF2B5EF4-FFF2-40B4-BE49-F238E27FC236}">
                <a16:creationId xmlns:a16="http://schemas.microsoft.com/office/drawing/2014/main" id="{6EA57C72-F735-4C61-8B7E-5BCBF6F9228D}"/>
              </a:ext>
            </a:extLst>
          </p:cNvPr>
          <p:cNvSpPr>
            <a:spLocks xmlns:a="http://schemas.openxmlformats.org/drawingml/2006/main" noGrp="1"/>
          </p:cNvSpPr>
          <p:nvPr/>
        </p:nvSpPr>
        <p:spPr>
          <a:xfrm xmlns:a="http://schemas.openxmlformats.org/drawingml/2006/main">
            <a:off x="11144250" y="63627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66F"/>
                </a:solidFill>
                <a:latin typeface="Arial"/>
                <a:ea typeface="Arial"/>
                <a:cs typeface="Arial"/>
              </a:defRPr>
            </a:pPr>
            <a:r>
              <a:rPr sz="1350" b="0">
                <a:solidFill>
                  <a:srgbClr val="54666F"/>
                </a:solidFill>
                <a:latin typeface="Arial"/>
                <a:ea typeface="Arial"/>
                <a:cs typeface="Arial"/>
              </a:rPr>
              <a:t>02</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93fab66ab83488b"/>
          <a:stretch xmlns:a="http://schemas.openxmlformats.org/drawingml/2006/main"/>
        </p:blipFill>
        <p:spPr>
          <a:xfrm xmlns:a="http://schemas.openxmlformats.org/drawingml/2006/main">
            <a:off x="419100" y="1814513"/>
            <a:ext cx="7658100" cy="38290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4D36026-4474-4C4A-8F84-168F69B14271}"/>
              </a:ext>
            </a:extLst>
          </p:cNvPr>
          <p:cNvSpPr>
            <a:spLocks xmlns:a="http://schemas.openxmlformats.org/drawingml/2006/main" noGrp="1"/>
          </p:cNvSpPr>
          <p:nvPr/>
        </p:nvSpPr>
        <p:spPr>
          <a:xfrm xmlns:a="http://schemas.openxmlformats.org/drawingml/2006/main">
            <a:off x="8420100" y="2171700"/>
            <a:ext cx="3219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87F8C"/>
                </a:solidFill>
                <a:latin typeface="Arial"/>
                <a:ea typeface="Arial"/>
                <a:cs typeface="Arial"/>
              </a:defRPr>
            </a:pPr>
            <a:r>
              <a:rPr sz="2100" b="1">
                <a:solidFill>
                  <a:srgbClr val="087F8C"/>
                </a:solidFill>
                <a:latin typeface="Arial"/>
                <a:ea typeface="Arial"/>
                <a:cs typeface="Arial"/>
              </a:rPr>
              <a:t>Difference: 0.521 km/90</a:t>
            </a:r>
          </a:p>
        </p:txBody>
      </p:sp>
      <p:sp>
        <p:nvSpPr>
          <p:cNvPr id="7" name="">
            <a:extLst xmlns:a="http://schemas.openxmlformats.org/drawingml/2006/main">
              <a:ext uri="{FF2B5EF4-FFF2-40B4-BE49-F238E27FC236}">
                <a16:creationId xmlns:a16="http://schemas.microsoft.com/office/drawing/2014/main" id="{0B39FABE-0878-4C9A-925B-06A071A93F92}"/>
              </a:ext>
            </a:extLst>
          </p:cNvPr>
          <p:cNvSpPr>
            <a:spLocks xmlns:a="http://schemas.openxmlformats.org/drawingml/2006/main" noGrp="1"/>
          </p:cNvSpPr>
          <p:nvPr/>
        </p:nvSpPr>
        <p:spPr>
          <a:xfrm xmlns:a="http://schemas.openxmlformats.org/drawingml/2006/main">
            <a:off x="8420100" y="2981325"/>
            <a:ext cx="3219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9313B"/>
                </a:solidFill>
                <a:latin typeface="Arial"/>
                <a:ea typeface="Arial"/>
                <a:cs typeface="Arial"/>
              </a:defRPr>
            </a:pPr>
            <a:r>
              <a:rPr sz="1950" b="0">
                <a:solidFill>
                  <a:srgbClr val="19313B"/>
                </a:solidFill>
                <a:latin typeface="Arial"/>
                <a:ea typeface="Arial"/>
                <a:cs typeface="Arial"/>
              </a:rPr>
              <a:t>95% CI</a:t>
            </a:r>
          </a:p>
          <a:p xmlns:a="http://schemas.openxmlformats.org/drawingml/2006/main">
            <a:pPr>
              <a:defRPr sz="1950" b="0">
                <a:solidFill>
                  <a:srgbClr val="19313B"/>
                </a:solidFill>
                <a:latin typeface="Arial"/>
                <a:ea typeface="Arial"/>
                <a:cs typeface="Arial"/>
              </a:defRPr>
            </a:pPr>
            <a:r>
              <a:rPr sz="1950" b="0">
                <a:solidFill>
                  <a:srgbClr val="19313B"/>
                </a:solidFill>
                <a:latin typeface="Arial"/>
                <a:ea typeface="Arial"/>
                <a:cs typeface="Arial"/>
              </a:rPr>
              <a:t>0.224 to 0.818 km/90</a:t>
            </a:r>
          </a:p>
        </p:txBody>
      </p:sp>
      <p:sp>
        <p:nvSpPr>
          <p:cNvPr id="8" name="">
            <a:extLst xmlns:a="http://schemas.openxmlformats.org/drawingml/2006/main">
              <a:ext uri="{FF2B5EF4-FFF2-40B4-BE49-F238E27FC236}">
                <a16:creationId xmlns:a16="http://schemas.microsoft.com/office/drawing/2014/main" id="{2A6BC48B-0312-4071-A06B-7A839C82A352}"/>
              </a:ext>
            </a:extLst>
          </p:cNvPr>
          <p:cNvSpPr>
            <a:spLocks xmlns:a="http://schemas.openxmlformats.org/drawingml/2006/main" noGrp="1"/>
          </p:cNvSpPr>
          <p:nvPr/>
        </p:nvSpPr>
        <p:spPr>
          <a:xfrm xmlns:a="http://schemas.openxmlformats.org/drawingml/2006/main">
            <a:off x="8420100" y="4019550"/>
            <a:ext cx="32194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9313B"/>
                </a:solidFill>
                <a:latin typeface="Arial"/>
                <a:ea typeface="Arial"/>
                <a:cs typeface="Arial"/>
              </a:defRPr>
            </a:pPr>
            <a:r>
              <a:rPr sz="1950" b="0">
                <a:solidFill>
                  <a:srgbClr val="19313B"/>
                </a:solidFill>
                <a:latin typeface="Arial"/>
                <a:ea typeface="Arial"/>
                <a:cs typeface="Arial"/>
              </a:rPr>
              <a:t>t = 3.589, df = 29</a:t>
            </a:r>
          </a:p>
          <a:p xmlns:a="http://schemas.openxmlformats.org/drawingml/2006/main">
            <a:pPr>
              <a:defRPr sz="1950" b="0">
                <a:solidFill>
                  <a:srgbClr val="19313B"/>
                </a:solidFill>
                <a:latin typeface="Arial"/>
                <a:ea typeface="Arial"/>
                <a:cs typeface="Arial"/>
              </a:defRPr>
            </a:pPr>
            <a:r>
              <a:rPr sz="1950" b="0">
                <a:solidFill>
                  <a:srgbClr val="19313B"/>
                </a:solidFill>
                <a:latin typeface="Arial"/>
                <a:ea typeface="Arial"/>
                <a:cs typeface="Arial"/>
              </a:rPr>
              <a:t>p = 0.001206</a:t>
            </a:r>
          </a:p>
        </p:txBody>
      </p:sp>
      <p:sp>
        <p:nvSpPr>
          <p:cNvPr id="9" name="">
            <a:extLst xmlns:a="http://schemas.openxmlformats.org/drawingml/2006/main">
              <a:ext uri="{FF2B5EF4-FFF2-40B4-BE49-F238E27FC236}">
                <a16:creationId xmlns:a16="http://schemas.microsoft.com/office/drawing/2014/main" id="{79196B6F-CC4E-42C5-B3C0-A838140CE461}"/>
              </a:ext>
            </a:extLst>
          </p:cNvPr>
          <p:cNvSpPr>
            <a:spLocks xmlns:a="http://schemas.openxmlformats.org/drawingml/2006/main" noGrp="1"/>
          </p:cNvSpPr>
          <p:nvPr/>
        </p:nvSpPr>
        <p:spPr>
          <a:xfrm xmlns:a="http://schemas.openxmlformats.org/drawingml/2006/main">
            <a:off x="8420100" y="5000625"/>
            <a:ext cx="32194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87F8C"/>
                </a:solidFill>
                <a:latin typeface="Arial"/>
                <a:ea typeface="Arial"/>
                <a:cs typeface="Arial"/>
              </a:defRPr>
            </a:pPr>
            <a:r>
              <a:rPr sz="2100" b="1">
                <a:solidFill>
                  <a:srgbClr val="087F8C"/>
                </a:solidFill>
                <a:latin typeface="Arial"/>
                <a:ea typeface="Arial"/>
                <a:cs typeface="Arial"/>
              </a:rPr>
              <a:t>Reject H0 at 5%</a:t>
            </a:r>
          </a:p>
        </p:txBody>
      </p:sp>
      <p:sp>
        <p:nvSpPr>
          <p:cNvPr id="10" name="">
            <a:extLst xmlns:a="http://schemas.openxmlformats.org/drawingml/2006/main">
              <a:ext uri="{FF2B5EF4-FFF2-40B4-BE49-F238E27FC236}">
                <a16:creationId xmlns:a16="http://schemas.microsoft.com/office/drawing/2014/main" id="{D03F711E-1171-4F90-BF6A-6C02E74BBBE1}"/>
              </a:ext>
            </a:extLst>
          </p:cNvPr>
          <p:cNvSpPr>
            <a:spLocks xmlns:a="http://schemas.openxmlformats.org/drawingml/2006/main" noGrp="1"/>
          </p:cNvSpPr>
          <p:nvPr/>
        </p:nvSpPr>
        <p:spPr>
          <a:xfrm xmlns:a="http://schemas.openxmlformats.org/drawingml/2006/main">
            <a:off x="590550" y="5810250"/>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666F"/>
                </a:solidFill>
                <a:latin typeface="Arial"/>
                <a:ea typeface="Arial"/>
                <a:cs typeface="Arial"/>
              </a:defRPr>
            </a:pPr>
            <a:r>
              <a:rPr sz="1725" b="0">
                <a:solidFill>
                  <a:srgbClr val="54666F"/>
                </a:solidFill>
                <a:latin typeface="Arial"/>
                <a:ea typeface="Arial"/>
                <a:cs typeface="Arial"/>
              </a:rPr>
              <a:t>Distance / minutes × 90     Eligible frame: 57 MF, 91 FW</a:t>
            </a:r>
          </a:p>
        </p:txBody>
      </p:sp>
    </p:spTree>
    <p:extLst>
      <p:ext uri="{BB962C8B-B14F-4D97-AF65-F5344CB8AC3E}">
        <p14:creationId xmlns:p14="http://schemas.microsoft.com/office/powerpoint/2010/main" val="111050903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BD8828E-769D-4322-9B5C-5362DB9C494F}"/>
              </a:ext>
            </a:extLst>
          </p:cNvPr>
          <p:cNvSpPr>
            <a:spLocks xmlns:a="http://schemas.openxmlformats.org/drawingml/2006/main" noGrp="1"/>
          </p:cNvSpPr>
          <p:nvPr/>
        </p:nvSpPr>
        <p:spPr>
          <a:xfrm xmlns:a="http://schemas.openxmlformats.org/drawingml/2006/main">
            <a:off x="533400" y="3619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9313B"/>
                </a:solidFill>
                <a:latin typeface="Arial"/>
                <a:ea typeface="Arial"/>
                <a:cs typeface="Arial"/>
              </a:defRPr>
            </a:pPr>
            <a:r>
              <a:rPr sz="3300" b="1">
                <a:solidFill>
                  <a:srgbClr val="19313B"/>
                </a:solidFill>
                <a:latin typeface="Arial"/>
                <a:ea typeface="Arial"/>
                <a:cs typeface="Arial"/>
              </a:rPr>
              <a:t>Direct-pressure share was higher for midfielders</a:t>
            </a:r>
          </a:p>
        </p:txBody>
      </p:sp>
      <p:sp>
        <p:nvSpPr>
          <p:cNvPr id="2" name="">
            <a:extLst xmlns:a="http://schemas.openxmlformats.org/drawingml/2006/main">
              <a:ext uri="{FF2B5EF4-FFF2-40B4-BE49-F238E27FC236}">
                <a16:creationId xmlns:a16="http://schemas.microsoft.com/office/drawing/2014/main" id="{D1BE170A-3ACB-4052-A349-5C4A117F58F5}"/>
              </a:ext>
            </a:extLst>
          </p:cNvPr>
          <p:cNvSpPr>
            <a:spLocks xmlns:a="http://schemas.openxmlformats.org/drawingml/2006/main" noGrp="1"/>
          </p:cNvSpPr>
          <p:nvPr/>
        </p:nvSpPr>
        <p:spPr>
          <a:xfrm xmlns:a="http://schemas.openxmlformats.org/drawingml/2006/main">
            <a:off x="552450" y="1200150"/>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4666F"/>
                </a:solidFill>
                <a:latin typeface="Arial"/>
                <a:ea typeface="Arial"/>
                <a:cs typeface="Arial"/>
              </a:defRPr>
            </a:pPr>
            <a:r>
              <a:rPr sz="1875" b="0">
                <a:solidFill>
                  <a:srgbClr val="54666F"/>
                </a:solidFill>
                <a:latin typeface="Arial"/>
                <a:ea typeface="Arial"/>
                <a:cs typeface="Arial"/>
              </a:rPr>
              <a:t>At least 90 minutes and positive pressures  /  40 per position</a:t>
            </a:r>
          </a:p>
        </p:txBody>
      </p:sp>
      <p:sp>
        <p:nvSpPr>
          <p:cNvPr id="3" name="">
            <a:extLst xmlns:a="http://schemas.openxmlformats.org/drawingml/2006/main">
              <a:ext uri="{FF2B5EF4-FFF2-40B4-BE49-F238E27FC236}">
                <a16:creationId xmlns:a16="http://schemas.microsoft.com/office/drawing/2014/main" id="{0BEFABC3-9281-4A60-A0A4-581F6DE211CF}"/>
              </a:ext>
            </a:extLst>
          </p:cNvPr>
          <p:cNvSpPr>
            <a:spLocks xmlns:a="http://schemas.openxmlformats.org/drawingml/2006/main" noGrp="1"/>
          </p:cNvSpPr>
          <p:nvPr/>
        </p:nvSpPr>
        <p:spPr>
          <a:xfrm xmlns:a="http://schemas.openxmlformats.org/drawingml/2006/main">
            <a:off x="552450" y="6362700"/>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66F"/>
                </a:solidFill>
                <a:latin typeface="Arial"/>
                <a:ea typeface="Arial"/>
                <a:cs typeface="Arial"/>
              </a:defRPr>
            </a:pPr>
            <a:r>
              <a:rPr sz="1350" b="0">
                <a:solidFill>
                  <a:srgbClr val="54666F"/>
                </a:solidFill>
                <a:latin typeface="Arial"/>
                <a:ea typeface="Arial"/>
                <a:cs typeface="Arial"/>
              </a:rPr>
              <a:t>CDU HIT140  /  Maximus Turner</a:t>
            </a:r>
          </a:p>
        </p:txBody>
      </p:sp>
      <p:sp>
        <p:nvSpPr>
          <p:cNvPr id="4" name="">
            <a:extLst xmlns:a="http://schemas.openxmlformats.org/drawingml/2006/main">
              <a:ext uri="{FF2B5EF4-FFF2-40B4-BE49-F238E27FC236}">
                <a16:creationId xmlns:a16="http://schemas.microsoft.com/office/drawing/2014/main" id="{BD95D5F7-75B0-470D-89C6-5D975C7293B9}"/>
              </a:ext>
            </a:extLst>
          </p:cNvPr>
          <p:cNvSpPr>
            <a:spLocks xmlns:a="http://schemas.openxmlformats.org/drawingml/2006/main" noGrp="1"/>
          </p:cNvSpPr>
          <p:nvPr/>
        </p:nvSpPr>
        <p:spPr>
          <a:xfrm xmlns:a="http://schemas.openxmlformats.org/drawingml/2006/main">
            <a:off x="11144250" y="63627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66F"/>
                </a:solidFill>
                <a:latin typeface="Arial"/>
                <a:ea typeface="Arial"/>
                <a:cs typeface="Arial"/>
              </a:defRPr>
            </a:pPr>
            <a:r>
              <a:rPr sz="1350" b="0">
                <a:solidFill>
                  <a:srgbClr val="54666F"/>
                </a:solidFill>
                <a:latin typeface="Arial"/>
                <a:ea typeface="Arial"/>
                <a:cs typeface="Arial"/>
              </a:rPr>
              <a:t>03</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aab5525e72794898"/>
          <a:stretch xmlns:a="http://schemas.openxmlformats.org/drawingml/2006/main"/>
        </p:blipFill>
        <p:spPr>
          <a:xfrm xmlns:a="http://schemas.openxmlformats.org/drawingml/2006/main">
            <a:off x="419100" y="1814513"/>
            <a:ext cx="7658100" cy="38290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71E014D-A869-4B3D-A20F-1E45ED42E8C1}"/>
              </a:ext>
            </a:extLst>
          </p:cNvPr>
          <p:cNvSpPr>
            <a:spLocks xmlns:a="http://schemas.openxmlformats.org/drawingml/2006/main" noGrp="1"/>
          </p:cNvSpPr>
          <p:nvPr/>
        </p:nvSpPr>
        <p:spPr>
          <a:xfrm xmlns:a="http://schemas.openxmlformats.org/drawingml/2006/main">
            <a:off x="8420100" y="2171700"/>
            <a:ext cx="3219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87F8C"/>
                </a:solidFill>
                <a:latin typeface="Arial"/>
                <a:ea typeface="Arial"/>
                <a:cs typeface="Arial"/>
              </a:defRPr>
            </a:pPr>
            <a:r>
              <a:rPr sz="2100" b="1">
                <a:solidFill>
                  <a:srgbClr val="087F8C"/>
                </a:solidFill>
                <a:latin typeface="Arial"/>
                <a:ea typeface="Arial"/>
                <a:cs typeface="Arial"/>
              </a:rPr>
              <a:t>Difference: 5.885 points</a:t>
            </a:r>
          </a:p>
        </p:txBody>
      </p:sp>
      <p:sp>
        <p:nvSpPr>
          <p:cNvPr id="7" name="">
            <a:extLst xmlns:a="http://schemas.openxmlformats.org/drawingml/2006/main">
              <a:ext uri="{FF2B5EF4-FFF2-40B4-BE49-F238E27FC236}">
                <a16:creationId xmlns:a16="http://schemas.microsoft.com/office/drawing/2014/main" id="{0BD97D78-C153-4910-B8FF-B45F01305834}"/>
              </a:ext>
            </a:extLst>
          </p:cNvPr>
          <p:cNvSpPr>
            <a:spLocks xmlns:a="http://schemas.openxmlformats.org/drawingml/2006/main" noGrp="1"/>
          </p:cNvSpPr>
          <p:nvPr/>
        </p:nvSpPr>
        <p:spPr>
          <a:xfrm xmlns:a="http://schemas.openxmlformats.org/drawingml/2006/main">
            <a:off x="8420100" y="2981325"/>
            <a:ext cx="3219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9313B"/>
                </a:solidFill>
                <a:latin typeface="Arial"/>
                <a:ea typeface="Arial"/>
                <a:cs typeface="Arial"/>
              </a:defRPr>
            </a:pPr>
            <a:r>
              <a:rPr sz="1950" b="0">
                <a:solidFill>
                  <a:srgbClr val="19313B"/>
                </a:solidFill>
                <a:latin typeface="Arial"/>
                <a:ea typeface="Arial"/>
                <a:cs typeface="Arial"/>
              </a:rPr>
              <a:t>95% CI</a:t>
            </a:r>
          </a:p>
          <a:p xmlns:a="http://schemas.openxmlformats.org/drawingml/2006/main">
            <a:pPr>
              <a:defRPr sz="1950" b="0">
                <a:solidFill>
                  <a:srgbClr val="19313B"/>
                </a:solidFill>
                <a:latin typeface="Arial"/>
                <a:ea typeface="Arial"/>
                <a:cs typeface="Arial"/>
              </a:defRPr>
            </a:pPr>
            <a:r>
              <a:rPr sz="1950" b="0">
                <a:solidFill>
                  <a:srgbClr val="19313B"/>
                </a:solidFill>
                <a:latin typeface="Arial"/>
                <a:ea typeface="Arial"/>
                <a:cs typeface="Arial"/>
              </a:rPr>
              <a:t>2.141 to 9.628 points</a:t>
            </a:r>
          </a:p>
        </p:txBody>
      </p:sp>
      <p:sp>
        <p:nvSpPr>
          <p:cNvPr id="8" name="">
            <a:extLst xmlns:a="http://schemas.openxmlformats.org/drawingml/2006/main">
              <a:ext uri="{FF2B5EF4-FFF2-40B4-BE49-F238E27FC236}">
                <a16:creationId xmlns:a16="http://schemas.microsoft.com/office/drawing/2014/main" id="{0A3BCF07-6CFA-4FAB-B020-2F3F45D4171B}"/>
              </a:ext>
            </a:extLst>
          </p:cNvPr>
          <p:cNvSpPr>
            <a:spLocks xmlns:a="http://schemas.openxmlformats.org/drawingml/2006/main" noGrp="1"/>
          </p:cNvSpPr>
          <p:nvPr/>
        </p:nvSpPr>
        <p:spPr>
          <a:xfrm xmlns:a="http://schemas.openxmlformats.org/drawingml/2006/main">
            <a:off x="8420100" y="4019550"/>
            <a:ext cx="32194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9313B"/>
                </a:solidFill>
                <a:latin typeface="Arial"/>
                <a:ea typeface="Arial"/>
                <a:cs typeface="Arial"/>
              </a:defRPr>
            </a:pPr>
            <a:r>
              <a:rPr sz="1950" b="0">
                <a:solidFill>
                  <a:srgbClr val="19313B"/>
                </a:solidFill>
                <a:latin typeface="Arial"/>
                <a:ea typeface="Arial"/>
                <a:cs typeface="Arial"/>
              </a:rPr>
              <a:t>t = 3.179, df = 39</a:t>
            </a:r>
          </a:p>
          <a:p xmlns:a="http://schemas.openxmlformats.org/drawingml/2006/main">
            <a:pPr>
              <a:defRPr sz="1950" b="0">
                <a:solidFill>
                  <a:srgbClr val="19313B"/>
                </a:solidFill>
                <a:latin typeface="Arial"/>
                <a:ea typeface="Arial"/>
                <a:cs typeface="Arial"/>
              </a:defRPr>
            </a:pPr>
            <a:r>
              <a:rPr sz="1950" b="0">
                <a:solidFill>
                  <a:srgbClr val="19313B"/>
                </a:solidFill>
                <a:latin typeface="Arial"/>
                <a:ea typeface="Arial"/>
                <a:cs typeface="Arial"/>
              </a:rPr>
              <a:t>p = 0.002888</a:t>
            </a:r>
          </a:p>
        </p:txBody>
      </p:sp>
      <p:sp>
        <p:nvSpPr>
          <p:cNvPr id="9" name="">
            <a:extLst xmlns:a="http://schemas.openxmlformats.org/drawingml/2006/main">
              <a:ext uri="{FF2B5EF4-FFF2-40B4-BE49-F238E27FC236}">
                <a16:creationId xmlns:a16="http://schemas.microsoft.com/office/drawing/2014/main" id="{6CBCAAB4-84B0-464C-997C-C7FAFA5C2F59}"/>
              </a:ext>
            </a:extLst>
          </p:cNvPr>
          <p:cNvSpPr>
            <a:spLocks xmlns:a="http://schemas.openxmlformats.org/drawingml/2006/main" noGrp="1"/>
          </p:cNvSpPr>
          <p:nvPr/>
        </p:nvSpPr>
        <p:spPr>
          <a:xfrm xmlns:a="http://schemas.openxmlformats.org/drawingml/2006/main">
            <a:off x="8420100" y="5000625"/>
            <a:ext cx="32194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87F8C"/>
                </a:solidFill>
                <a:latin typeface="Arial"/>
                <a:ea typeface="Arial"/>
                <a:cs typeface="Arial"/>
              </a:defRPr>
            </a:pPr>
            <a:r>
              <a:rPr sz="2100" b="1">
                <a:solidFill>
                  <a:srgbClr val="087F8C"/>
                </a:solidFill>
                <a:latin typeface="Arial"/>
                <a:ea typeface="Arial"/>
                <a:cs typeface="Arial"/>
              </a:rPr>
              <a:t>Reject H0 at 5%</a:t>
            </a:r>
          </a:p>
        </p:txBody>
      </p:sp>
      <p:sp>
        <p:nvSpPr>
          <p:cNvPr id="10" name="">
            <a:extLst xmlns:a="http://schemas.openxmlformats.org/drawingml/2006/main">
              <a:ext uri="{FF2B5EF4-FFF2-40B4-BE49-F238E27FC236}">
                <a16:creationId xmlns:a16="http://schemas.microsoft.com/office/drawing/2014/main" id="{A72966ED-5F29-4823-AAC8-DE097682D99A}"/>
              </a:ext>
            </a:extLst>
          </p:cNvPr>
          <p:cNvSpPr>
            <a:spLocks xmlns:a="http://schemas.openxmlformats.org/drawingml/2006/main" noGrp="1"/>
          </p:cNvSpPr>
          <p:nvPr/>
        </p:nvSpPr>
        <p:spPr>
          <a:xfrm xmlns:a="http://schemas.openxmlformats.org/drawingml/2006/main">
            <a:off x="590550" y="5810250"/>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666F"/>
                </a:solidFill>
                <a:latin typeface="Arial"/>
                <a:ea typeface="Arial"/>
                <a:cs typeface="Arial"/>
              </a:defRPr>
            </a:pPr>
            <a:r>
              <a:rPr sz="1725" b="0">
                <a:solidFill>
                  <a:srgbClr val="54666F"/>
                </a:solidFill>
                <a:latin typeface="Arial"/>
                <a:ea typeface="Arial"/>
                <a:cs typeface="Arial"/>
              </a:rPr>
              <a:t>100 × direct pressures / all pressures     Eligible frame: 71 MF, 49 FW</a:t>
            </a:r>
          </a:p>
        </p:txBody>
      </p:sp>
    </p:spTree>
    <p:extLst>
      <p:ext uri="{BB962C8B-B14F-4D97-AF65-F5344CB8AC3E}">
        <p14:creationId xmlns:p14="http://schemas.microsoft.com/office/powerpoint/2010/main" val="61664956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0577DDC-84DE-499B-A232-918510A5C244}"/>
              </a:ext>
            </a:extLst>
          </p:cNvPr>
          <p:cNvSpPr>
            <a:spLocks xmlns:a="http://schemas.openxmlformats.org/drawingml/2006/main" noGrp="1"/>
          </p:cNvSpPr>
          <p:nvPr/>
        </p:nvSpPr>
        <p:spPr>
          <a:xfrm xmlns:a="http://schemas.openxmlformats.org/drawingml/2006/main">
            <a:off x="533400" y="3619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9313B"/>
                </a:solidFill>
                <a:latin typeface="Arial"/>
                <a:ea typeface="Arial"/>
                <a:cs typeface="Arial"/>
              </a:defRPr>
            </a:pPr>
            <a:r>
              <a:rPr sz="3300" b="1">
                <a:solidFill>
                  <a:srgbClr val="19313B"/>
                </a:solidFill>
                <a:latin typeface="Arial"/>
                <a:ea typeface="Arial"/>
                <a:cs typeface="Arial"/>
              </a:rPr>
              <a:t>Interpretation and lessons learned</a:t>
            </a:r>
          </a:p>
        </p:txBody>
      </p:sp>
      <p:sp>
        <p:nvSpPr>
          <p:cNvPr id="2" name="">
            <a:extLst xmlns:a="http://schemas.openxmlformats.org/drawingml/2006/main">
              <a:ext uri="{FF2B5EF4-FFF2-40B4-BE49-F238E27FC236}">
                <a16:creationId xmlns:a16="http://schemas.microsoft.com/office/drawing/2014/main" id="{CF4F3BCC-6863-449E-834A-021C8F925B74}"/>
              </a:ext>
            </a:extLst>
          </p:cNvPr>
          <p:cNvSpPr>
            <a:spLocks xmlns:a="http://schemas.openxmlformats.org/drawingml/2006/main" noGrp="1"/>
          </p:cNvSpPr>
          <p:nvPr/>
        </p:nvSpPr>
        <p:spPr>
          <a:xfrm xmlns:a="http://schemas.openxmlformats.org/drawingml/2006/main">
            <a:off x="552450" y="1200150"/>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4666F"/>
                </a:solidFill>
                <a:latin typeface="Arial"/>
                <a:ea typeface="Arial"/>
                <a:cs typeface="Arial"/>
              </a:defRPr>
            </a:pPr>
            <a:r>
              <a:rPr sz="1875" b="0">
                <a:solidFill>
                  <a:srgbClr val="54666F"/>
                </a:solidFill>
                <a:latin typeface="Arial"/>
                <a:ea typeface="Arial"/>
                <a:cs typeface="Arial"/>
              </a:rPr>
              <a:t>Both differences are statistically significant under the course model</a:t>
            </a:r>
          </a:p>
        </p:txBody>
      </p:sp>
      <p:sp>
        <p:nvSpPr>
          <p:cNvPr id="3" name="">
            <a:extLst xmlns:a="http://schemas.openxmlformats.org/drawingml/2006/main">
              <a:ext uri="{FF2B5EF4-FFF2-40B4-BE49-F238E27FC236}">
                <a16:creationId xmlns:a16="http://schemas.microsoft.com/office/drawing/2014/main" id="{852D4118-AAAC-414B-BB3B-0BB4F50FF3C8}"/>
              </a:ext>
            </a:extLst>
          </p:cNvPr>
          <p:cNvSpPr>
            <a:spLocks xmlns:a="http://schemas.openxmlformats.org/drawingml/2006/main" noGrp="1"/>
          </p:cNvSpPr>
          <p:nvPr/>
        </p:nvSpPr>
        <p:spPr>
          <a:xfrm xmlns:a="http://schemas.openxmlformats.org/drawingml/2006/main">
            <a:off x="552450" y="6362700"/>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66F"/>
                </a:solidFill>
                <a:latin typeface="Arial"/>
                <a:ea typeface="Arial"/>
                <a:cs typeface="Arial"/>
              </a:defRPr>
            </a:pPr>
            <a:r>
              <a:rPr sz="1350" b="0">
                <a:solidFill>
                  <a:srgbClr val="54666F"/>
                </a:solidFill>
                <a:latin typeface="Arial"/>
                <a:ea typeface="Arial"/>
                <a:cs typeface="Arial"/>
              </a:rPr>
              <a:t>CDU HIT140  /  Maximus Turner</a:t>
            </a:r>
          </a:p>
        </p:txBody>
      </p:sp>
      <p:sp>
        <p:nvSpPr>
          <p:cNvPr id="4" name="">
            <a:extLst xmlns:a="http://schemas.openxmlformats.org/drawingml/2006/main">
              <a:ext uri="{FF2B5EF4-FFF2-40B4-BE49-F238E27FC236}">
                <a16:creationId xmlns:a16="http://schemas.microsoft.com/office/drawing/2014/main" id="{BD4AC59B-22FD-41E8-B423-061F4DC5A18F}"/>
              </a:ext>
            </a:extLst>
          </p:cNvPr>
          <p:cNvSpPr>
            <a:spLocks xmlns:a="http://schemas.openxmlformats.org/drawingml/2006/main" noGrp="1"/>
          </p:cNvSpPr>
          <p:nvPr/>
        </p:nvSpPr>
        <p:spPr>
          <a:xfrm xmlns:a="http://schemas.openxmlformats.org/drawingml/2006/main">
            <a:off x="11144250" y="63627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66F"/>
                </a:solidFill>
                <a:latin typeface="Arial"/>
                <a:ea typeface="Arial"/>
                <a:cs typeface="Arial"/>
              </a:defRPr>
            </a:pPr>
            <a:r>
              <a:rPr sz="1350" b="0">
                <a:solidFill>
                  <a:srgbClr val="54666F"/>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2937C367-4A16-479E-9376-BA5CB57297C2}"/>
              </a:ext>
            </a:extLst>
          </p:cNvPr>
          <p:cNvSpPr>
            <a:spLocks xmlns:a="http://schemas.openxmlformats.org/drawingml/2006/main" noGrp="1"/>
          </p:cNvSpPr>
          <p:nvPr/>
        </p:nvSpPr>
        <p:spPr>
          <a:xfrm xmlns:a="http://schemas.openxmlformats.org/drawingml/2006/main">
            <a:off x="609600" y="2085975"/>
            <a:ext cx="10572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87F8C"/>
                </a:solidFill>
                <a:latin typeface="Arial"/>
                <a:ea typeface="Arial"/>
                <a:cs typeface="Arial"/>
              </a:defRPr>
            </a:pPr>
            <a:r>
              <a:rPr sz="2400" b="1">
                <a:solidFill>
                  <a:srgbClr val="087F8C"/>
                </a:solidFill>
                <a:latin typeface="Arial"/>
                <a:ea typeface="Arial"/>
                <a:cs typeface="Arial"/>
              </a:rPr>
              <a:t>Incomplete joins change the sample</a:t>
            </a:r>
          </a:p>
        </p:txBody>
      </p:sp>
      <p:sp>
        <p:nvSpPr>
          <p:cNvPr id="6" name="">
            <a:extLst xmlns:a="http://schemas.openxmlformats.org/drawingml/2006/main">
              <a:ext uri="{FF2B5EF4-FFF2-40B4-BE49-F238E27FC236}">
                <a16:creationId xmlns:a16="http://schemas.microsoft.com/office/drawing/2014/main" id="{58733747-009A-4936-AE84-DA79F2422601}"/>
              </a:ext>
            </a:extLst>
          </p:cNvPr>
          <p:cNvSpPr>
            <a:spLocks xmlns:a="http://schemas.openxmlformats.org/drawingml/2006/main" noGrp="1"/>
          </p:cNvSpPr>
          <p:nvPr/>
        </p:nvSpPr>
        <p:spPr>
          <a:xfrm xmlns:a="http://schemas.openxmlformats.org/drawingml/2006/main">
            <a:off x="609600" y="2619375"/>
            <a:ext cx="10429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9313B"/>
                </a:solidFill>
                <a:latin typeface="Arial"/>
                <a:ea typeface="Arial"/>
                <a:cs typeface="Arial"/>
              </a:defRPr>
            </a:pPr>
            <a:r>
              <a:rPr sz="2025" b="0">
                <a:solidFill>
                  <a:srgbClr val="19313B"/>
                </a:solidFill>
                <a:latin typeface="Arial"/>
                <a:ea typeface="Arial"/>
                <a:cs typeface="Arial"/>
              </a:rPr>
              <a:t>281 recovered minute records improved coverage.</a:t>
            </a:r>
          </a:p>
          <a:p xmlns:a="http://schemas.openxmlformats.org/drawingml/2006/main">
            <a:pPr>
              <a:defRPr sz="2025" b="0">
                <a:solidFill>
                  <a:srgbClr val="19313B"/>
                </a:solidFill>
                <a:latin typeface="Arial"/>
                <a:ea typeface="Arial"/>
                <a:cs typeface="Arial"/>
              </a:defRPr>
            </a:pPr>
            <a:r>
              <a:rPr sz="2025" b="0">
                <a:solidFill>
                  <a:srgbClr val="19313B"/>
                </a:solidFill>
                <a:latin typeface="Arial"/>
                <a:ea typeface="Arial"/>
                <a:cs typeface="Arial"/>
              </a:rPr>
              <a:t>The captured tables still limit generalisation.</a:t>
            </a:r>
          </a:p>
        </p:txBody>
      </p:sp>
      <p:sp>
        <p:nvSpPr>
          <p:cNvPr id="7" name="">
            <a:extLst xmlns:a="http://schemas.openxmlformats.org/drawingml/2006/main">
              <a:ext uri="{FF2B5EF4-FFF2-40B4-BE49-F238E27FC236}">
                <a16:creationId xmlns:a16="http://schemas.microsoft.com/office/drawing/2014/main" id="{D5524082-E932-4F66-8D93-1803EBDBA9EB}"/>
              </a:ext>
            </a:extLst>
          </p:cNvPr>
          <p:cNvSpPr>
            <a:spLocks xmlns:a="http://schemas.openxmlformats.org/drawingml/2006/main" noGrp="1"/>
          </p:cNvSpPr>
          <p:nvPr/>
        </p:nvSpPr>
        <p:spPr>
          <a:xfrm xmlns:a="http://schemas.openxmlformats.org/drawingml/2006/main">
            <a:off x="609600" y="3638550"/>
            <a:ext cx="10572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87F8C"/>
                </a:solidFill>
                <a:latin typeface="Arial"/>
                <a:ea typeface="Arial"/>
                <a:cs typeface="Arial"/>
              </a:defRPr>
            </a:pPr>
            <a:r>
              <a:rPr sz="2400" b="1">
                <a:solidFill>
                  <a:srgbClr val="087F8C"/>
                </a:solidFill>
                <a:latin typeface="Arial"/>
                <a:ea typeface="Arial"/>
                <a:cs typeface="Arial"/>
              </a:rPr>
              <a:t>Denominators change the question</a:t>
            </a:r>
          </a:p>
        </p:txBody>
      </p:sp>
      <p:sp>
        <p:nvSpPr>
          <p:cNvPr id="8" name="">
            <a:extLst xmlns:a="http://schemas.openxmlformats.org/drawingml/2006/main">
              <a:ext uri="{FF2B5EF4-FFF2-40B4-BE49-F238E27FC236}">
                <a16:creationId xmlns:a16="http://schemas.microsoft.com/office/drawing/2014/main" id="{829490CD-6732-482A-83FB-9F90F0A3AC2D}"/>
              </a:ext>
            </a:extLst>
          </p:cNvPr>
          <p:cNvSpPr>
            <a:spLocks xmlns:a="http://schemas.openxmlformats.org/drawingml/2006/main" noGrp="1"/>
          </p:cNvSpPr>
          <p:nvPr/>
        </p:nvSpPr>
        <p:spPr>
          <a:xfrm xmlns:a="http://schemas.openxmlformats.org/drawingml/2006/main">
            <a:off x="609600" y="4162425"/>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9313B"/>
                </a:solidFill>
                <a:latin typeface="Arial"/>
                <a:ea typeface="Arial"/>
                <a:cs typeface="Arial"/>
              </a:defRPr>
            </a:pPr>
            <a:r>
              <a:rPr sz="2025" b="0">
                <a:solidFill>
                  <a:srgbClr val="19313B"/>
                </a:solidFill>
                <a:latin typeface="Arial"/>
                <a:ea typeface="Arial"/>
                <a:cs typeface="Arial"/>
              </a:rPr>
              <a:t>Running measures workload. Direct-pressure share describes style.</a:t>
            </a:r>
          </a:p>
        </p:txBody>
      </p:sp>
      <p:sp>
        <p:nvSpPr>
          <p:cNvPr id="9" name="">
            <a:extLst xmlns:a="http://schemas.openxmlformats.org/drawingml/2006/main">
              <a:ext uri="{FF2B5EF4-FFF2-40B4-BE49-F238E27FC236}">
                <a16:creationId xmlns:a16="http://schemas.microsoft.com/office/drawing/2014/main" id="{4F852C51-E83D-4C83-83BF-0961FFE4DFA2}"/>
              </a:ext>
            </a:extLst>
          </p:cNvPr>
          <p:cNvSpPr>
            <a:spLocks xmlns:a="http://schemas.openxmlformats.org/drawingml/2006/main" noGrp="1"/>
          </p:cNvSpPr>
          <p:nvPr/>
        </p:nvSpPr>
        <p:spPr>
          <a:xfrm xmlns:a="http://schemas.openxmlformats.org/drawingml/2006/main">
            <a:off x="609600" y="4943475"/>
            <a:ext cx="10572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87F8C"/>
                </a:solidFill>
                <a:latin typeface="Arial"/>
                <a:ea typeface="Arial"/>
                <a:cs typeface="Arial"/>
              </a:defRPr>
            </a:pPr>
            <a:r>
              <a:rPr sz="2400" b="1">
                <a:solidFill>
                  <a:srgbClr val="087F8C"/>
                </a:solidFill>
                <a:latin typeface="Arial"/>
                <a:ea typeface="Arial"/>
                <a:cs typeface="Arial"/>
              </a:rPr>
              <a:t>Small p-values need context</a:t>
            </a:r>
          </a:p>
        </p:txBody>
      </p:sp>
      <p:sp>
        <p:nvSpPr>
          <p:cNvPr id="10" name="">
            <a:extLst xmlns:a="http://schemas.openxmlformats.org/drawingml/2006/main">
              <a:ext uri="{FF2B5EF4-FFF2-40B4-BE49-F238E27FC236}">
                <a16:creationId xmlns:a16="http://schemas.microsoft.com/office/drawing/2014/main" id="{471F1C4A-F03E-45A1-9B92-09FAF6DBF3AB}"/>
              </a:ext>
            </a:extLst>
          </p:cNvPr>
          <p:cNvSpPr>
            <a:spLocks xmlns:a="http://schemas.openxmlformats.org/drawingml/2006/main" noGrp="1"/>
          </p:cNvSpPr>
          <p:nvPr/>
        </p:nvSpPr>
        <p:spPr>
          <a:xfrm xmlns:a="http://schemas.openxmlformats.org/drawingml/2006/main">
            <a:off x="609600" y="5467350"/>
            <a:ext cx="1028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9313B"/>
                </a:solidFill>
                <a:latin typeface="Arial"/>
                <a:ea typeface="Arial"/>
                <a:cs typeface="Arial"/>
              </a:defRPr>
            </a:pPr>
            <a:r>
              <a:rPr sz="1875" b="0">
                <a:solidFill>
                  <a:srgbClr val="19313B"/>
                </a:solidFill>
                <a:latin typeface="Arial"/>
                <a:ea typeface="Arial"/>
                <a:cs typeface="Arial"/>
              </a:rPr>
              <a:t>Exploratory selection, skewed pressing data and shared team tactics</a:t>
            </a:r>
          </a:p>
          <a:p xmlns:a="http://schemas.openxmlformats.org/drawingml/2006/main">
            <a:pPr>
              <a:defRPr sz="1875" b="0">
                <a:solidFill>
                  <a:srgbClr val="19313B"/>
                </a:solidFill>
                <a:latin typeface="Arial"/>
                <a:ea typeface="Arial"/>
                <a:cs typeface="Arial"/>
              </a:defRPr>
            </a:pPr>
            <a:r>
              <a:rPr sz="1875" b="0">
                <a:solidFill>
                  <a:srgbClr val="19313B"/>
                </a:solidFill>
                <a:latin typeface="Arial"/>
                <a:ea typeface="Arial"/>
                <a:cs typeface="Arial"/>
              </a:rPr>
              <a:t>limit the inference. Position does not establish causation.</a:t>
            </a:r>
          </a:p>
        </p:txBody>
      </p:sp>
    </p:spTree>
    <p:extLst>
      <p:ext uri="{BB962C8B-B14F-4D97-AF65-F5344CB8AC3E}">
        <p14:creationId xmlns:p14="http://schemas.microsoft.com/office/powerpoint/2010/main" val="81778167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9DFE471-6E52-4AD9-8DFC-D136C206D81C}"/>
              </a:ext>
            </a:extLst>
          </p:cNvPr>
          <p:cNvSpPr>
            <a:spLocks xmlns:a="http://schemas.openxmlformats.org/drawingml/2006/main" noGrp="1"/>
          </p:cNvSpPr>
          <p:nvPr/>
        </p:nvSpPr>
        <p:spPr>
          <a:xfrm xmlns:a="http://schemas.openxmlformats.org/drawingml/2006/main">
            <a:off x="533400" y="3619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9313B"/>
                </a:solidFill>
                <a:latin typeface="Arial"/>
                <a:ea typeface="Arial"/>
                <a:cs typeface="Arial"/>
              </a:defRPr>
            </a:pPr>
            <a:r>
              <a:rPr sz="3300" b="1">
                <a:solidFill>
                  <a:srgbClr val="19313B"/>
                </a:solidFill>
                <a:latin typeface="Arial"/>
                <a:ea typeface="Arial"/>
                <a:cs typeface="Arial"/>
              </a:rPr>
              <a:t>Reference: sampling and inference</a:t>
            </a:r>
          </a:p>
        </p:txBody>
      </p:sp>
      <p:sp>
        <p:nvSpPr>
          <p:cNvPr id="2" name="">
            <a:extLst xmlns:a="http://schemas.openxmlformats.org/drawingml/2006/main">
              <a:ext uri="{FF2B5EF4-FFF2-40B4-BE49-F238E27FC236}">
                <a16:creationId xmlns:a16="http://schemas.microsoft.com/office/drawing/2014/main" id="{87B2E886-B0FD-4698-A7E6-5C022AF84484}"/>
              </a:ext>
            </a:extLst>
          </p:cNvPr>
          <p:cNvSpPr>
            <a:spLocks xmlns:a="http://schemas.openxmlformats.org/drawingml/2006/main" noGrp="1"/>
          </p:cNvSpPr>
          <p:nvPr/>
        </p:nvSpPr>
        <p:spPr>
          <a:xfrm xmlns:a="http://schemas.openxmlformats.org/drawingml/2006/main">
            <a:off x="552450" y="1200150"/>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4666F"/>
                </a:solidFill>
                <a:latin typeface="Arial"/>
                <a:ea typeface="Arial"/>
                <a:cs typeface="Arial"/>
              </a:defRPr>
            </a:pPr>
            <a:r>
              <a:rPr sz="1875" b="0">
                <a:solidFill>
                  <a:srgbClr val="54666F"/>
                </a:solidFill>
                <a:latin typeface="Arial"/>
                <a:ea typeface="Arial"/>
                <a:cs typeface="Arial"/>
              </a:rPr>
              <a:t>Optional technical reference, outside the narrated segment</a:t>
            </a:r>
          </a:p>
        </p:txBody>
      </p:sp>
      <p:sp>
        <p:nvSpPr>
          <p:cNvPr id="3" name="">
            <a:extLst xmlns:a="http://schemas.openxmlformats.org/drawingml/2006/main">
              <a:ext uri="{FF2B5EF4-FFF2-40B4-BE49-F238E27FC236}">
                <a16:creationId xmlns:a16="http://schemas.microsoft.com/office/drawing/2014/main" id="{B96BB392-0E8D-4266-AB1C-0A915A6FCA07}"/>
              </a:ext>
            </a:extLst>
          </p:cNvPr>
          <p:cNvSpPr>
            <a:spLocks xmlns:a="http://schemas.openxmlformats.org/drawingml/2006/main" noGrp="1"/>
          </p:cNvSpPr>
          <p:nvPr/>
        </p:nvSpPr>
        <p:spPr>
          <a:xfrm xmlns:a="http://schemas.openxmlformats.org/drawingml/2006/main">
            <a:off x="552450" y="6362700"/>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66F"/>
                </a:solidFill>
                <a:latin typeface="Arial"/>
                <a:ea typeface="Arial"/>
                <a:cs typeface="Arial"/>
              </a:defRPr>
            </a:pPr>
            <a:r>
              <a:rPr sz="1350" b="0">
                <a:solidFill>
                  <a:srgbClr val="54666F"/>
                </a:solidFill>
                <a:latin typeface="Arial"/>
                <a:ea typeface="Arial"/>
                <a:cs typeface="Arial"/>
              </a:rPr>
              <a:t>CDU HIT140  /  Maximus Turner</a:t>
            </a:r>
          </a:p>
        </p:txBody>
      </p:sp>
      <p:sp>
        <p:nvSpPr>
          <p:cNvPr id="4" name="">
            <a:extLst xmlns:a="http://schemas.openxmlformats.org/drawingml/2006/main">
              <a:ext uri="{FF2B5EF4-FFF2-40B4-BE49-F238E27FC236}">
                <a16:creationId xmlns:a16="http://schemas.microsoft.com/office/drawing/2014/main" id="{2C025A1A-5389-45FB-94FC-804F5963C617}"/>
              </a:ext>
            </a:extLst>
          </p:cNvPr>
          <p:cNvSpPr>
            <a:spLocks xmlns:a="http://schemas.openxmlformats.org/drawingml/2006/main" noGrp="1"/>
          </p:cNvSpPr>
          <p:nvPr/>
        </p:nvSpPr>
        <p:spPr>
          <a:xfrm xmlns:a="http://schemas.openxmlformats.org/drawingml/2006/main">
            <a:off x="11144250" y="63627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66F"/>
                </a:solidFill>
                <a:latin typeface="Arial"/>
                <a:ea typeface="Arial"/>
                <a:cs typeface="Arial"/>
              </a:defRPr>
            </a:pPr>
            <a:r>
              <a:rPr sz="1350" b="0">
                <a:solidFill>
                  <a:srgbClr val="54666F"/>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FD8D6D12-8EF7-46E9-83BD-D53637B2C0A7}"/>
              </a:ext>
            </a:extLst>
          </p:cNvPr>
          <p:cNvSpPr>
            <a:spLocks xmlns:a="http://schemas.openxmlformats.org/drawingml/2006/main" noGrp="1"/>
          </p:cNvSpPr>
          <p:nvPr/>
        </p:nvSpPr>
        <p:spPr>
          <a:xfrm xmlns:a="http://schemas.openxmlformats.org/drawingml/2006/main">
            <a:off x="590550" y="20097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87F8C"/>
                </a:solidFill>
                <a:latin typeface="Arial"/>
                <a:ea typeface="Arial"/>
                <a:cs typeface="Arial"/>
              </a:defRPr>
            </a:pPr>
            <a:r>
              <a:rPr sz="2325" b="1">
                <a:solidFill>
                  <a:srgbClr val="087F8C"/>
                </a:solidFill>
                <a:latin typeface="Arial"/>
                <a:ea typeface="Arial"/>
                <a:cs typeface="Arial"/>
              </a:rPr>
              <a:t>State and plan</a:t>
            </a:r>
          </a:p>
        </p:txBody>
      </p:sp>
      <p:sp>
        <p:nvSpPr>
          <p:cNvPr id="6" name="">
            <a:extLst xmlns:a="http://schemas.openxmlformats.org/drawingml/2006/main">
              <a:ext uri="{FF2B5EF4-FFF2-40B4-BE49-F238E27FC236}">
                <a16:creationId xmlns:a16="http://schemas.microsoft.com/office/drawing/2014/main" id="{A9D4353A-2656-45AA-A9F3-F4D0EBB28FD9}"/>
              </a:ext>
            </a:extLst>
          </p:cNvPr>
          <p:cNvSpPr>
            <a:spLocks xmlns:a="http://schemas.openxmlformats.org/drawingml/2006/main" noGrp="1"/>
          </p:cNvSpPr>
          <p:nvPr/>
        </p:nvSpPr>
        <p:spPr>
          <a:xfrm xmlns:a="http://schemas.openxmlformats.org/drawingml/2006/main">
            <a:off x="590550" y="2524125"/>
            <a:ext cx="105727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9313B"/>
                </a:solidFill>
                <a:latin typeface="Arial"/>
                <a:ea typeface="Arial"/>
                <a:cs typeface="Arial"/>
              </a:defRPr>
            </a:pPr>
            <a:r>
              <a:rPr sz="2025" b="0">
                <a:solidFill>
                  <a:srgbClr val="19313B"/>
                </a:solidFill>
                <a:latin typeface="Arial"/>
                <a:ea typeface="Arial"/>
                <a:cs typeface="Arial"/>
              </a:rPr>
              <a:t>Each task compares two eligible-group means. Players are the units.</a:t>
            </a:r>
          </a:p>
          <a:p xmlns:a="http://schemas.openxmlformats.org/drawingml/2006/main">
            <a:pPr>
              <a:defRPr sz="2025" b="0">
                <a:solidFill>
                  <a:srgbClr val="19313B"/>
                </a:solidFill>
                <a:latin typeface="Arial"/>
                <a:ea typeface="Arial"/>
                <a:cs typeface="Arial"/>
              </a:defRPr>
            </a:pPr>
            <a:r>
              <a:rPr sz="2025" b="0">
                <a:solidFill>
                  <a:srgbClr val="19313B"/>
                </a:solidFill>
                <a:latin typeface="Arial"/>
                <a:ea typeface="Arial"/>
                <a:cs typeface="Arial"/>
              </a:rPr>
              <a:t>Sample without replacement: MF seed 2026, FW seed 2027.</a:t>
            </a:r>
          </a:p>
        </p:txBody>
      </p:sp>
      <p:sp>
        <p:nvSpPr>
          <p:cNvPr id="7" name="">
            <a:extLst xmlns:a="http://schemas.openxmlformats.org/drawingml/2006/main">
              <a:ext uri="{FF2B5EF4-FFF2-40B4-BE49-F238E27FC236}">
                <a16:creationId xmlns:a16="http://schemas.microsoft.com/office/drawing/2014/main" id="{7466ED66-93DC-4A40-A828-305F752CE8A4}"/>
              </a:ext>
            </a:extLst>
          </p:cNvPr>
          <p:cNvSpPr>
            <a:spLocks xmlns:a="http://schemas.openxmlformats.org/drawingml/2006/main" noGrp="1"/>
          </p:cNvSpPr>
          <p:nvPr/>
        </p:nvSpPr>
        <p:spPr>
          <a:xfrm xmlns:a="http://schemas.openxmlformats.org/drawingml/2006/main">
            <a:off x="590550" y="36004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87F8C"/>
                </a:solidFill>
                <a:latin typeface="Arial"/>
                <a:ea typeface="Arial"/>
                <a:cs typeface="Arial"/>
              </a:defRPr>
            </a:pPr>
            <a:r>
              <a:rPr sz="2325" b="1">
                <a:solidFill>
                  <a:srgbClr val="087F8C"/>
                </a:solidFill>
                <a:latin typeface="Arial"/>
                <a:ea typeface="Arial"/>
                <a:cs typeface="Arial"/>
              </a:rPr>
              <a:t>Solve</a:t>
            </a:r>
          </a:p>
        </p:txBody>
      </p:sp>
      <p:sp>
        <p:nvSpPr>
          <p:cNvPr id="8" name="">
            <a:extLst xmlns:a="http://schemas.openxmlformats.org/drawingml/2006/main">
              <a:ext uri="{FF2B5EF4-FFF2-40B4-BE49-F238E27FC236}">
                <a16:creationId xmlns:a16="http://schemas.microsoft.com/office/drawing/2014/main" id="{E7A4A681-DB78-466B-8724-04BBF1DD5075}"/>
              </a:ext>
            </a:extLst>
          </p:cNvPr>
          <p:cNvSpPr>
            <a:spLocks xmlns:a="http://schemas.openxmlformats.org/drawingml/2006/main" noGrp="1"/>
          </p:cNvSpPr>
          <p:nvPr/>
        </p:nvSpPr>
        <p:spPr>
          <a:xfrm xmlns:a="http://schemas.openxmlformats.org/drawingml/2006/main">
            <a:off x="590550" y="4124325"/>
            <a:ext cx="10810875"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9313B"/>
                </a:solidFill>
                <a:latin typeface="Arial"/>
                <a:ea typeface="Arial"/>
                <a:cs typeface="Arial"/>
              </a:defRPr>
            </a:pPr>
            <a:r>
              <a:rPr sz="1950" b="0">
                <a:solidFill>
                  <a:srgbClr val="19313B"/>
                </a:solidFill>
                <a:latin typeface="Arial"/>
                <a:ea typeface="Arial"/>
                <a:cs typeface="Arial"/>
              </a:rPr>
              <a:t>t = (mean MF − mean FW) / sqrt(s² MF / n MF + s² FW / n FW)</a:t>
            </a:r>
          </a:p>
          <a:p xmlns:a="http://schemas.openxmlformats.org/drawingml/2006/main">
            <a:pPr>
              <a:defRPr sz="1950" b="0">
                <a:solidFill>
                  <a:srgbClr val="19313B"/>
                </a:solidFill>
                <a:latin typeface="Arial"/>
                <a:ea typeface="Arial"/>
                <a:cs typeface="Arial"/>
              </a:defRPr>
            </a:pPr>
            <a:r>
              <a:rPr sz="1950" b="0">
                <a:solidFill>
                  <a:srgbClr val="19313B"/>
                </a:solidFill>
                <a:latin typeface="Arial"/>
                <a:ea typeface="Arial"/>
                <a:cs typeface="Arial"/>
              </a:rPr>
              <a:t>Course df = min(n MF − 1, n FW − 1)</a:t>
            </a:r>
          </a:p>
          <a:p xmlns:a="http://schemas.openxmlformats.org/drawingml/2006/main">
            <a:pPr>
              <a:defRPr sz="1950" b="0">
                <a:solidFill>
                  <a:srgbClr val="19313B"/>
                </a:solidFill>
                <a:latin typeface="Arial"/>
                <a:ea typeface="Arial"/>
                <a:cs typeface="Arial"/>
              </a:defRPr>
            </a:pPr>
            <a:r>
              <a:rPr sz="1950" b="0">
                <a:solidFill>
                  <a:srgbClr val="19313B"/>
                </a:solidFill>
                <a:latin typeface="Arial"/>
                <a:ea typeface="Arial"/>
                <a:cs typeface="Arial"/>
              </a:rPr>
              <a:t>Mean CI = mean ± t critical × s / sqrt(n)</a:t>
            </a:r>
          </a:p>
        </p:txBody>
      </p:sp>
      <p:sp>
        <p:nvSpPr>
          <p:cNvPr id="9" name="">
            <a:extLst xmlns:a="http://schemas.openxmlformats.org/drawingml/2006/main">
              <a:ext uri="{FF2B5EF4-FFF2-40B4-BE49-F238E27FC236}">
                <a16:creationId xmlns:a16="http://schemas.microsoft.com/office/drawing/2014/main" id="{DDF1D11F-2A95-47C6-8CC8-AD314A85FEC9}"/>
              </a:ext>
            </a:extLst>
          </p:cNvPr>
          <p:cNvSpPr>
            <a:spLocks xmlns:a="http://schemas.openxmlformats.org/drawingml/2006/main" noGrp="1"/>
          </p:cNvSpPr>
          <p:nvPr/>
        </p:nvSpPr>
        <p:spPr>
          <a:xfrm xmlns:a="http://schemas.openxmlformats.org/drawingml/2006/main">
            <a:off x="590550" y="5581650"/>
            <a:ext cx="1062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666F"/>
                </a:solidFill>
                <a:latin typeface="Arial"/>
                <a:ea typeface="Arial"/>
                <a:cs typeface="Arial"/>
              </a:defRPr>
            </a:pPr>
            <a:r>
              <a:rPr sz="1725" b="0">
                <a:solidFill>
                  <a:srgbClr val="54666F"/>
                </a:solidFill>
                <a:latin typeface="Arial"/>
                <a:ea typeface="Arial"/>
                <a:cs typeface="Arial"/>
              </a:rPr>
              <a:t>Large sampling fractions and team dependence make inference approximate.</a:t>
            </a:r>
          </a:p>
          <a:p xmlns:a="http://schemas.openxmlformats.org/drawingml/2006/main">
            <a:pPr>
              <a:defRPr sz="1725" b="0">
                <a:solidFill>
                  <a:srgbClr val="54666F"/>
                </a:solidFill>
                <a:latin typeface="Arial"/>
                <a:ea typeface="Arial"/>
                <a:cs typeface="Arial"/>
              </a:defRPr>
            </a:pPr>
            <a:r>
              <a:rPr sz="1725" b="0">
                <a:solidFill>
                  <a:srgbClr val="54666F"/>
                </a:solidFill>
                <a:latin typeface="Arial"/>
                <a:ea typeface="Arial"/>
                <a:cs typeface="Arial"/>
              </a:rPr>
              <a:t>Welch sensitivity retains both decisions. All nominal tests are exploratory.</a:t>
            </a:r>
          </a:p>
        </p:txBody>
      </p:sp>
    </p:spTree>
    <p:extLst>
      <p:ext uri="{BB962C8B-B14F-4D97-AF65-F5344CB8AC3E}">
        <p14:creationId xmlns:p14="http://schemas.microsoft.com/office/powerpoint/2010/main" val="89090694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1E995FC-B839-46C5-9D05-1C36DC32FA23}"/>
              </a:ext>
            </a:extLst>
          </p:cNvPr>
          <p:cNvSpPr>
            <a:spLocks xmlns:a="http://schemas.openxmlformats.org/drawingml/2006/main" noGrp="1"/>
          </p:cNvSpPr>
          <p:nvPr/>
        </p:nvSpPr>
        <p:spPr>
          <a:xfrm xmlns:a="http://schemas.openxmlformats.org/drawingml/2006/main">
            <a:off x="533400" y="3619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9313B"/>
                </a:solidFill>
                <a:latin typeface="Arial"/>
                <a:ea typeface="Arial"/>
                <a:cs typeface="Arial"/>
              </a:defRPr>
            </a:pPr>
            <a:r>
              <a:rPr sz="3300" b="1">
                <a:solidFill>
                  <a:srgbClr val="19313B"/>
                </a:solidFill>
                <a:latin typeface="Arial"/>
                <a:ea typeface="Arial"/>
                <a:cs typeface="Arial"/>
              </a:rPr>
              <a:t>Reference: distributions and source limits</a:t>
            </a:r>
          </a:p>
        </p:txBody>
      </p:sp>
      <p:sp>
        <p:nvSpPr>
          <p:cNvPr id="2" name="">
            <a:extLst xmlns:a="http://schemas.openxmlformats.org/drawingml/2006/main">
              <a:ext uri="{FF2B5EF4-FFF2-40B4-BE49-F238E27FC236}">
                <a16:creationId xmlns:a16="http://schemas.microsoft.com/office/drawing/2014/main" id="{BFFD4886-B341-4B40-A81F-59D2DBF972E7}"/>
              </a:ext>
            </a:extLst>
          </p:cNvPr>
          <p:cNvSpPr>
            <a:spLocks xmlns:a="http://schemas.openxmlformats.org/drawingml/2006/main" noGrp="1"/>
          </p:cNvSpPr>
          <p:nvPr/>
        </p:nvSpPr>
        <p:spPr>
          <a:xfrm xmlns:a="http://schemas.openxmlformats.org/drawingml/2006/main">
            <a:off x="552450" y="1200150"/>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4666F"/>
                </a:solidFill>
                <a:latin typeface="Arial"/>
                <a:ea typeface="Arial"/>
                <a:cs typeface="Arial"/>
              </a:defRPr>
            </a:pPr>
            <a:r>
              <a:rPr sz="1875" b="0">
                <a:solidFill>
                  <a:srgbClr val="54666F"/>
                </a:solidFill>
                <a:latin typeface="Arial"/>
                <a:ea typeface="Arial"/>
                <a:cs typeface="Arial"/>
              </a:rPr>
              <a:t>Optional technical reference, outside the narrated segment</a:t>
            </a:r>
          </a:p>
        </p:txBody>
      </p:sp>
      <p:sp>
        <p:nvSpPr>
          <p:cNvPr id="3" name="">
            <a:extLst xmlns:a="http://schemas.openxmlformats.org/drawingml/2006/main">
              <a:ext uri="{FF2B5EF4-FFF2-40B4-BE49-F238E27FC236}">
                <a16:creationId xmlns:a16="http://schemas.microsoft.com/office/drawing/2014/main" id="{081D87B5-4A35-4533-A5B2-E8DF63638D26}"/>
              </a:ext>
            </a:extLst>
          </p:cNvPr>
          <p:cNvSpPr>
            <a:spLocks xmlns:a="http://schemas.openxmlformats.org/drawingml/2006/main" noGrp="1"/>
          </p:cNvSpPr>
          <p:nvPr/>
        </p:nvSpPr>
        <p:spPr>
          <a:xfrm xmlns:a="http://schemas.openxmlformats.org/drawingml/2006/main">
            <a:off x="552450" y="6362700"/>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66F"/>
                </a:solidFill>
                <a:latin typeface="Arial"/>
                <a:ea typeface="Arial"/>
                <a:cs typeface="Arial"/>
              </a:defRPr>
            </a:pPr>
            <a:r>
              <a:rPr sz="1350" b="0">
                <a:solidFill>
                  <a:srgbClr val="54666F"/>
                </a:solidFill>
                <a:latin typeface="Arial"/>
                <a:ea typeface="Arial"/>
                <a:cs typeface="Arial"/>
              </a:rPr>
              <a:t>CDU HIT140  /  Maximus Turner</a:t>
            </a:r>
          </a:p>
        </p:txBody>
      </p:sp>
      <p:sp>
        <p:nvSpPr>
          <p:cNvPr id="4" name="">
            <a:extLst xmlns:a="http://schemas.openxmlformats.org/drawingml/2006/main">
              <a:ext uri="{FF2B5EF4-FFF2-40B4-BE49-F238E27FC236}">
                <a16:creationId xmlns:a16="http://schemas.microsoft.com/office/drawing/2014/main" id="{AB76D620-B1AC-4DB8-9741-84F88014E8E3}"/>
              </a:ext>
            </a:extLst>
          </p:cNvPr>
          <p:cNvSpPr>
            <a:spLocks xmlns:a="http://schemas.openxmlformats.org/drawingml/2006/main" noGrp="1"/>
          </p:cNvSpPr>
          <p:nvPr/>
        </p:nvSpPr>
        <p:spPr>
          <a:xfrm xmlns:a="http://schemas.openxmlformats.org/drawingml/2006/main">
            <a:off x="11144250" y="63627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66F"/>
                </a:solidFill>
                <a:latin typeface="Arial"/>
                <a:ea typeface="Arial"/>
                <a:cs typeface="Arial"/>
              </a:defRPr>
            </a:pPr>
            <a:r>
              <a:rPr sz="1350" b="0">
                <a:solidFill>
                  <a:srgbClr val="54666F"/>
                </a:solidFill>
                <a:latin typeface="Arial"/>
                <a:ea typeface="Arial"/>
                <a:cs typeface="Arial"/>
              </a:rPr>
              <a:t>06</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3657a816610a48e4"/>
          <a:stretch xmlns:a="http://schemas.openxmlformats.org/drawingml/2006/main"/>
        </p:blipFill>
        <p:spPr>
          <a:xfrm xmlns:a="http://schemas.openxmlformats.org/drawingml/2006/main">
            <a:off x="381000" y="1905000"/>
            <a:ext cx="5572125" cy="2476500"/>
          </a:xfrm>
          <a:prstGeom xmlns:a="http://schemas.openxmlformats.org/drawingml/2006/main" prst="rect">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f96e63821eff4207"/>
          <a:stretch xmlns:a="http://schemas.openxmlformats.org/drawingml/2006/main"/>
        </p:blipFill>
        <p:spPr>
          <a:xfrm xmlns:a="http://schemas.openxmlformats.org/drawingml/2006/main">
            <a:off x="6238875" y="1905000"/>
            <a:ext cx="5572125" cy="24765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607D95A-A550-4D37-9C55-582EFFDE8E00}"/>
              </a:ext>
            </a:extLst>
          </p:cNvPr>
          <p:cNvSpPr>
            <a:spLocks xmlns:a="http://schemas.openxmlformats.org/drawingml/2006/main" noGrp="1"/>
          </p:cNvSpPr>
          <p:nvPr/>
        </p:nvSpPr>
        <p:spPr>
          <a:xfrm xmlns:a="http://schemas.openxmlformats.org/drawingml/2006/main">
            <a:off x="590550" y="464820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9313B"/>
                </a:solidFill>
                <a:latin typeface="Arial"/>
                <a:ea typeface="Arial"/>
                <a:cs typeface="Arial"/>
              </a:defRPr>
            </a:pPr>
            <a:r>
              <a:rPr sz="1875" b="0">
                <a:solidFill>
                  <a:srgbClr val="19313B"/>
                </a:solidFill>
                <a:latin typeface="Arial"/>
                <a:ea typeface="Arial"/>
                <a:cs typeface="Arial"/>
              </a:rPr>
              <a:t>Running: 1 IQR outlier, retained</a:t>
            </a:r>
          </a:p>
          <a:p xmlns:a="http://schemas.openxmlformats.org/drawingml/2006/main">
            <a:pPr>
              <a:defRPr sz="1875" b="0">
                <a:solidFill>
                  <a:srgbClr val="19313B"/>
                </a:solidFill>
                <a:latin typeface="Arial"/>
                <a:ea typeface="Arial"/>
                <a:cs typeface="Arial"/>
              </a:defRPr>
            </a:pPr>
            <a:r>
              <a:rPr sz="1875" b="0">
                <a:solidFill>
                  <a:srgbClr val="19313B"/>
                </a:solidFill>
                <a:latin typeface="Arial"/>
                <a:ea typeface="Arial"/>
                <a:cs typeface="Arial"/>
              </a:rPr>
              <a:t>Pressing: 2 per group, retained</a:t>
            </a:r>
          </a:p>
        </p:txBody>
      </p:sp>
      <p:sp>
        <p:nvSpPr>
          <p:cNvPr id="8" name="">
            <a:extLst xmlns:a="http://schemas.openxmlformats.org/drawingml/2006/main">
              <a:ext uri="{FF2B5EF4-FFF2-40B4-BE49-F238E27FC236}">
                <a16:creationId xmlns:a16="http://schemas.microsoft.com/office/drawing/2014/main" id="{ECEDD800-F6CB-4F5E-9F47-E464A5586560}"/>
              </a:ext>
            </a:extLst>
          </p:cNvPr>
          <p:cNvSpPr>
            <a:spLocks xmlns:a="http://schemas.openxmlformats.org/drawingml/2006/main" noGrp="1"/>
          </p:cNvSpPr>
          <p:nvPr/>
        </p:nvSpPr>
        <p:spPr>
          <a:xfrm xmlns:a="http://schemas.openxmlformats.org/drawingml/2006/main">
            <a:off x="590550" y="5505450"/>
            <a:ext cx="1028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9313B"/>
                </a:solidFill>
                <a:latin typeface="Arial"/>
                <a:ea typeface="Arial"/>
                <a:cs typeface="Arial"/>
              </a:defRPr>
            </a:pPr>
            <a:r>
              <a:rPr sz="1875" b="0">
                <a:solidFill>
                  <a:srgbClr val="19313B"/>
                </a:solidFill>
                <a:latin typeface="Arial"/>
                <a:ea typeface="Arial"/>
                <a:cs typeface="Arial"/>
              </a:rPr>
              <a:t>Physical: 350/350 records matched minutes</a:t>
            </a:r>
          </a:p>
          <a:p xmlns:a="http://schemas.openxmlformats.org/drawingml/2006/main">
            <a:pPr>
              <a:defRPr sz="1875" b="0">
                <a:solidFill>
                  <a:srgbClr val="19313B"/>
                </a:solidFill>
                <a:latin typeface="Arial"/>
                <a:ea typeface="Arial"/>
                <a:cs typeface="Arial"/>
              </a:defRPr>
            </a:pPr>
            <a:r>
              <a:rPr sz="1875" b="0">
                <a:solidFill>
                  <a:srgbClr val="19313B"/>
                </a:solidFill>
                <a:latin typeface="Arial"/>
                <a:ea typeface="Arial"/>
                <a:cs typeface="Arial"/>
              </a:rPr>
              <a:t>Defending: 294/350 matched, 56 with unknown eligibility</a:t>
            </a:r>
          </a:p>
        </p:txBody>
      </p:sp>
    </p:spTree>
    <p:extLst>
      <p:ext uri="{BB962C8B-B14F-4D97-AF65-F5344CB8AC3E}">
        <p14:creationId xmlns:p14="http://schemas.microsoft.com/office/powerpoint/2010/main" val="160933803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2026-09-10T02:17:39.3050000Z</dcterms:created>
  <dcterms:modified xsi:type="dcterms:W3CDTF">2026-09-10T02:17:39.3050000Z</dcterms:modified>
</coreProperties>
</file>