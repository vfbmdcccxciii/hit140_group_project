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14"/>
  </p:notesMasterIdLst>
  <p:sldIdLst>
    <p:sldId id="280" r:id="rId5"/>
    <p:sldId id="281" r:id="rId6"/>
    <p:sldId id="282" r:id="rId7"/>
    <p:sldId id="285" r:id="rId8"/>
    <p:sldId id="283" r:id="rId9"/>
    <p:sldId id="284" r:id="rId10"/>
    <p:sldId id="286" r:id="rId11"/>
    <p:sldId id="287" r:id="rId12"/>
    <p:sldId id="28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19" autoAdjust="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23293E-4BB9-4AAE-824F-9F9C48BE06E4}" type="datetimeFigureOut">
              <a:rPr lang="en-AU" smtClean="0"/>
              <a:t>10/09/2026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24AB78-1ED6-4EF3-A712-B350E3AF3B4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85443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24AB78-1ED6-4EF3-A712-B350E3AF3B45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050262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24AB78-1ED6-4EF3-A712-B350E3AF3B45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041061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24AB78-1ED6-4EF3-A712-B350E3AF3B45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83479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2981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277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42051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774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9/10/2026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3152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9/10/2026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43349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9/10/2026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1585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149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25126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9809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1927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520980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63243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9/10/2026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97586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9/10/2026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545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27440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large, sitting, white, numbers">
            <a:extLst>
              <a:ext uri="{FF2B5EF4-FFF2-40B4-BE49-F238E27FC236}">
                <a16:creationId xmlns:a16="http://schemas.microsoft.com/office/drawing/2014/main" id="{9A5D9ED1-DFCC-4799-89E2-D118451B98D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356" cy="6858000"/>
          </a:xfrm>
          <a:prstGeom prst="rect">
            <a:avLst/>
          </a:prstGeom>
        </p:spPr>
      </p:pic>
      <p:sp useBgFill="1">
        <p:nvSpPr>
          <p:cNvPr id="96" name="Freeform 5">
            <a:extLst>
              <a:ext uri="{FF2B5EF4-FFF2-40B4-BE49-F238E27FC236}">
                <a16:creationId xmlns:a16="http://schemas.microsoft.com/office/drawing/2014/main" id="{FE469E50-3893-4ED6-92BA-2985C32B0C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7131809" y="1385982"/>
            <a:ext cx="4031414" cy="4100418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:a16="http://schemas.microsoft.com/office/drawing/2014/main" xmlns:p14="http://schemas.microsoft.com/office/powerpoint/2010/main"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89962" y="1673524"/>
            <a:ext cx="3690993" cy="2420504"/>
          </a:xfrm>
        </p:spPr>
        <p:txBody>
          <a:bodyPr>
            <a:normAutofit fontScale="90000"/>
          </a:bodyPr>
          <a:lstStyle/>
          <a:p>
            <a:pPr algn="l"/>
            <a:r>
              <a:rPr lang="en-AU" i="1" dirty="0">
                <a:effectLst/>
              </a:rPr>
              <a:t>DATA SCIENCE - Analytic task</a:t>
            </a:r>
            <a:r>
              <a:rPr lang="en-AU" dirty="0">
                <a:effectLst/>
              </a:rPr>
              <a:t> 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93FB3F-A8D4-46D3-A1C6-C79C64563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89965" y="4157933"/>
            <a:ext cx="3485072" cy="1026544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rgbClr val="5792BA"/>
                </a:solidFill>
              </a:rPr>
              <a:t>Based on FIFA World Cup 2026</a:t>
            </a:r>
          </a:p>
          <a:p>
            <a:pPr algn="l"/>
            <a:endParaRPr lang="en-US" sz="2300" dirty="0">
              <a:solidFill>
                <a:srgbClr val="5792B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3120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1F205-E8A9-4237-8AD2-ABD9BF694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</p:spPr>
        <p:txBody>
          <a:bodyPr>
            <a:normAutofit fontScale="90000"/>
          </a:bodyPr>
          <a:lstStyle/>
          <a:p>
            <a:r>
              <a:rPr lang="en-AU" b="1" i="1" dirty="0">
                <a:effectLst/>
              </a:rPr>
              <a:t>Analytic question formulation</a:t>
            </a:r>
            <a:br>
              <a:rPr lang="en-AU" dirty="0">
                <a:effectLst/>
              </a:rPr>
            </a:br>
            <a:r>
              <a:rPr lang="en-US" dirty="0"/>
              <a:t>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2543D0-76E2-337A-3EBB-577E791B1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56785"/>
            <a:ext cx="10353762" cy="3714749"/>
          </a:xfrm>
        </p:spPr>
        <p:txBody>
          <a:bodyPr/>
          <a:lstStyle/>
          <a:p>
            <a:r>
              <a:rPr lang="en-AU" dirty="0">
                <a:effectLst/>
              </a:rPr>
              <a:t>What is the average age of rostered players who scored at least one goal during the FIFA World Cup 2026? Exclude players who did not score?</a:t>
            </a:r>
          </a:p>
          <a:p>
            <a:pPr marL="36900" indent="0">
              <a:buNone/>
            </a:pPr>
            <a:endParaRPr lang="en-AU" dirty="0">
              <a:effectLst/>
            </a:endParaRPr>
          </a:p>
          <a:p>
            <a:pPr marL="36900" indent="0">
              <a:buNone/>
            </a:pPr>
            <a:endParaRPr lang="en-AU" dirty="0">
              <a:effectLst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6E231AC-7491-E851-327B-3959F33954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3929269"/>
              </p:ext>
            </p:extLst>
          </p:nvPr>
        </p:nvGraphicFramePr>
        <p:xfrm>
          <a:off x="378133" y="4060723"/>
          <a:ext cx="1164139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279">
                  <a:extLst>
                    <a:ext uri="{9D8B030D-6E8A-4147-A177-3AD203B41FA5}">
                      <a16:colId xmlns:a16="http://schemas.microsoft.com/office/drawing/2014/main" val="3986075477"/>
                    </a:ext>
                  </a:extLst>
                </a:gridCol>
                <a:gridCol w="2328279">
                  <a:extLst>
                    <a:ext uri="{9D8B030D-6E8A-4147-A177-3AD203B41FA5}">
                      <a16:colId xmlns:a16="http://schemas.microsoft.com/office/drawing/2014/main" val="2244127517"/>
                    </a:ext>
                  </a:extLst>
                </a:gridCol>
                <a:gridCol w="2328279">
                  <a:extLst>
                    <a:ext uri="{9D8B030D-6E8A-4147-A177-3AD203B41FA5}">
                      <a16:colId xmlns:a16="http://schemas.microsoft.com/office/drawing/2014/main" val="4012620657"/>
                    </a:ext>
                  </a:extLst>
                </a:gridCol>
                <a:gridCol w="2328279">
                  <a:extLst>
                    <a:ext uri="{9D8B030D-6E8A-4147-A177-3AD203B41FA5}">
                      <a16:colId xmlns:a16="http://schemas.microsoft.com/office/drawing/2014/main" val="4273676072"/>
                    </a:ext>
                  </a:extLst>
                </a:gridCol>
                <a:gridCol w="2328279">
                  <a:extLst>
                    <a:ext uri="{9D8B030D-6E8A-4147-A177-3AD203B41FA5}">
                      <a16:colId xmlns:a16="http://schemas.microsoft.com/office/drawing/2014/main" val="2944524650"/>
                    </a:ext>
                  </a:extLst>
                </a:gridCol>
              </a:tblGrid>
              <a:tr h="12831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1" i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Data wrangling</a:t>
                      </a:r>
                      <a:endParaRPr lang="en-AU" sz="1800" b="1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A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1" i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Data preparation and sampling</a:t>
                      </a:r>
                      <a:endParaRPr lang="en-AU" sz="1800" b="1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A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1" i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Descriptive statistics</a:t>
                      </a:r>
                      <a:endParaRPr lang="en-AU" sz="1800" b="1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A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1" i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Inferential statistics (Confidence interval)</a:t>
                      </a:r>
                      <a:endParaRPr lang="en-AU" sz="1800" b="1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A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800" b="1" i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Inferential statistics (either a One-Sample t-Test OR a Two-sample t-Test)</a:t>
                      </a:r>
                      <a:endParaRPr lang="en-AU" sz="1800" b="1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A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8584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5077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2B53B-888C-08FC-07EA-D7DD5CF1F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9A8238-2D1B-7ADE-03F6-FDD497908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>
                <a:effectLst/>
              </a:rPr>
              <a:t>Average age of rostered players who scored at least one goal?</a:t>
            </a:r>
          </a:p>
          <a:p>
            <a:r>
              <a:rPr lang="en-AU" dirty="0">
                <a:effectLst/>
              </a:rPr>
              <a:t>Sample and populations </a:t>
            </a:r>
          </a:p>
          <a:p>
            <a:endParaRPr lang="en-AU" dirty="0">
              <a:effectLst/>
            </a:endParaRPr>
          </a:p>
          <a:p>
            <a:endParaRPr lang="en-AU" dirty="0">
              <a:effectLst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0EE4EF0-8CD3-4E29-ACFB-4BF2CE61AF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574596"/>
              </p:ext>
            </p:extLst>
          </p:nvPr>
        </p:nvGraphicFramePr>
        <p:xfrm>
          <a:off x="545283" y="3614640"/>
          <a:ext cx="11090786" cy="2579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78">
                  <a:extLst>
                    <a:ext uri="{9D8B030D-6E8A-4147-A177-3AD203B41FA5}">
                      <a16:colId xmlns:a16="http://schemas.microsoft.com/office/drawing/2014/main" val="1753778277"/>
                    </a:ext>
                  </a:extLst>
                </a:gridCol>
                <a:gridCol w="1437476">
                  <a:extLst>
                    <a:ext uri="{9D8B030D-6E8A-4147-A177-3AD203B41FA5}">
                      <a16:colId xmlns:a16="http://schemas.microsoft.com/office/drawing/2014/main" val="1824945374"/>
                    </a:ext>
                  </a:extLst>
                </a:gridCol>
                <a:gridCol w="816077">
                  <a:extLst>
                    <a:ext uri="{9D8B030D-6E8A-4147-A177-3AD203B41FA5}">
                      <a16:colId xmlns:a16="http://schemas.microsoft.com/office/drawing/2014/main" val="112990532"/>
                    </a:ext>
                  </a:extLst>
                </a:gridCol>
                <a:gridCol w="1073681">
                  <a:extLst>
                    <a:ext uri="{9D8B030D-6E8A-4147-A177-3AD203B41FA5}">
                      <a16:colId xmlns:a16="http://schemas.microsoft.com/office/drawing/2014/main" val="556139606"/>
                    </a:ext>
                  </a:extLst>
                </a:gridCol>
                <a:gridCol w="2218158">
                  <a:extLst>
                    <a:ext uri="{9D8B030D-6E8A-4147-A177-3AD203B41FA5}">
                      <a16:colId xmlns:a16="http://schemas.microsoft.com/office/drawing/2014/main" val="2516439655"/>
                    </a:ext>
                  </a:extLst>
                </a:gridCol>
                <a:gridCol w="2218158">
                  <a:extLst>
                    <a:ext uri="{9D8B030D-6E8A-4147-A177-3AD203B41FA5}">
                      <a16:colId xmlns:a16="http://schemas.microsoft.com/office/drawing/2014/main" val="1691559442"/>
                    </a:ext>
                  </a:extLst>
                </a:gridCol>
                <a:gridCol w="2218158">
                  <a:extLst>
                    <a:ext uri="{9D8B030D-6E8A-4147-A177-3AD203B41FA5}">
                      <a16:colId xmlns:a16="http://schemas.microsoft.com/office/drawing/2014/main" val="2169732109"/>
                    </a:ext>
                  </a:extLst>
                </a:gridCol>
              </a:tblGrid>
              <a:tr h="890874">
                <a:tc>
                  <a:txBody>
                    <a:bodyPr/>
                    <a:lstStyle/>
                    <a:p>
                      <a:r>
                        <a:rPr lang="en-US" sz="1600" i="1" dirty="0"/>
                        <a:t>Sample size </a:t>
                      </a:r>
                      <a:endParaRPr lang="en-AU" sz="1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/>
                        <a:t>Population</a:t>
                      </a:r>
                      <a:endParaRPr lang="en-AU" sz="1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/>
                        <a:t>Mean</a:t>
                      </a:r>
                      <a:endParaRPr lang="en-AU" sz="1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/>
                        <a:t>Mode</a:t>
                      </a:r>
                      <a:endParaRPr lang="en-AU" sz="1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/>
                        <a:t>Range</a:t>
                      </a:r>
                      <a:endParaRPr lang="en-AU" sz="1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6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Sample Standard Deviation</a:t>
                      </a:r>
                    </a:p>
                    <a:p>
                      <a:endParaRPr lang="en-AU" sz="1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95% Confidence Interval for Mean Age:</a:t>
                      </a:r>
                    </a:p>
                    <a:p>
                      <a:endParaRPr lang="en-AU" sz="1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579345"/>
                  </a:ext>
                </a:extLst>
              </a:tr>
              <a:tr h="923870">
                <a:tc gridSpan="2">
                  <a:txBody>
                    <a:bodyPr/>
                    <a:lstStyle/>
                    <a:p>
                      <a:r>
                        <a:rPr lang="en-US" sz="1600" dirty="0"/>
                        <a:t>n= 50</a:t>
                      </a:r>
                    </a:p>
                    <a:p>
                      <a:r>
                        <a:rPr lang="en-AU" sz="1600" dirty="0"/>
                        <a:t>N= 81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A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1600" dirty="0"/>
                        <a:t>Mean- 28.20 years </a:t>
                      </a: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Mode- </a:t>
                      </a:r>
                      <a:r>
                        <a:rPr lang="en-AU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29.0 years</a:t>
                      </a:r>
                    </a:p>
                    <a:p>
                      <a:endParaRPr lang="en-AU" sz="1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(Max: 41.0 - Min: 18.0)</a:t>
                      </a:r>
                    </a:p>
                    <a:p>
                      <a:endParaRPr lang="en-A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5.54</a:t>
                      </a:r>
                    </a:p>
                    <a:p>
                      <a:endParaRPr lang="en-A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(26.63, 29.77) years old </a:t>
                      </a:r>
                    </a:p>
                    <a:p>
                      <a:endParaRPr lang="en-A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19403"/>
                  </a:ext>
                </a:extLst>
              </a:tr>
              <a:tr h="764768">
                <a:tc gridSpan="2">
                  <a:txBody>
                    <a:bodyPr/>
                    <a:lstStyle/>
                    <a:p>
                      <a:endParaRPr lang="en-A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A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A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07894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0248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16E64-3597-3EAF-4589-DB14B87A4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Do older veteran players get more goals?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597DC1-E301-810C-57F9-7BBF75FD6C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Two-Sample T-Test &amp; Sub-Group Analytics (Scorers Only)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81185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7CAA2-C46A-DCCE-036F-061CB64FB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Younger players vs Older players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5DF47C-1EF0-4B12-DD19-C579BE458C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36900" indent="0">
              <a:buNone/>
            </a:pPr>
            <a:r>
              <a:rPr lang="en-US" dirty="0">
                <a:effectLst/>
              </a:rPr>
              <a:t>Did younger players score more goals than older players?</a:t>
            </a: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Younger Scorers (Age &lt;= 28.2 yrs): </a:t>
            </a:r>
            <a:r>
              <a:rPr lang="en-US" dirty="0">
                <a:solidFill>
                  <a:srgbClr val="0070C0"/>
                </a:solidFill>
                <a:effectLst/>
              </a:rPr>
              <a:t>n = 25</a:t>
            </a:r>
          </a:p>
          <a:p>
            <a:r>
              <a:rPr lang="en-US" dirty="0">
                <a:effectLst/>
              </a:rPr>
              <a:t>  Mean Goals: </a:t>
            </a:r>
            <a:r>
              <a:rPr lang="en-US" dirty="0">
                <a:solidFill>
                  <a:srgbClr val="0070C0"/>
                </a:solidFill>
                <a:effectLst/>
              </a:rPr>
              <a:t>2.16</a:t>
            </a:r>
          </a:p>
          <a:p>
            <a:r>
              <a:rPr lang="en-US" dirty="0">
                <a:effectLst/>
              </a:rPr>
              <a:t>  Standard Deviation: </a:t>
            </a:r>
            <a:r>
              <a:rPr lang="en-US" dirty="0">
                <a:solidFill>
                  <a:srgbClr val="0070C0"/>
                </a:solidFill>
                <a:effectLst/>
              </a:rPr>
              <a:t>2.12</a:t>
            </a:r>
          </a:p>
          <a:p>
            <a:r>
              <a:rPr lang="en-US" dirty="0">
                <a:effectLst/>
              </a:rPr>
              <a:t>  Standard error of Mean (SEM) : </a:t>
            </a:r>
            <a:r>
              <a:rPr lang="en-US" dirty="0">
                <a:solidFill>
                  <a:srgbClr val="0070C0"/>
                </a:solidFill>
                <a:effectLst/>
              </a:rPr>
              <a:t>0.42</a:t>
            </a:r>
          </a:p>
          <a:p>
            <a:r>
              <a:rPr lang="en-US" dirty="0">
                <a:effectLst/>
              </a:rPr>
              <a:t>  95% Confidence Interval for Goals: </a:t>
            </a:r>
            <a:r>
              <a:rPr lang="en-US" dirty="0">
                <a:solidFill>
                  <a:srgbClr val="0070C0"/>
                </a:solidFill>
                <a:effectLst/>
              </a:rPr>
              <a:t>(1.29, 3.03)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48615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B775D-8A40-44C8-35F4-41E40E271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Older players vs younger players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91EAF-258A-F1C6-4236-CC6E63183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76450"/>
            <a:ext cx="10353762" cy="4171950"/>
          </a:xfrm>
        </p:spPr>
        <p:txBody>
          <a:bodyPr>
            <a:normAutofit/>
          </a:bodyPr>
          <a:lstStyle/>
          <a:p>
            <a:endParaRPr lang="en-US" dirty="0">
              <a:effectLst/>
            </a:endParaRP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Older Scorers (Age &gt; 28.2 yrs): </a:t>
            </a:r>
            <a:r>
              <a:rPr lang="en-US" dirty="0">
                <a:solidFill>
                  <a:srgbClr val="0070C0"/>
                </a:solidFill>
                <a:effectLst/>
              </a:rPr>
              <a:t>n = 25</a:t>
            </a:r>
          </a:p>
          <a:p>
            <a:r>
              <a:rPr lang="en-US" dirty="0">
                <a:effectLst/>
              </a:rPr>
              <a:t>  Mean Goals: </a:t>
            </a:r>
            <a:r>
              <a:rPr lang="en-US" dirty="0">
                <a:solidFill>
                  <a:srgbClr val="0070C0"/>
                </a:solidFill>
                <a:effectLst/>
              </a:rPr>
              <a:t>2.28</a:t>
            </a:r>
          </a:p>
          <a:p>
            <a:r>
              <a:rPr lang="en-US" dirty="0">
                <a:effectLst/>
              </a:rPr>
              <a:t>  Standard Deviation: </a:t>
            </a:r>
            <a:r>
              <a:rPr lang="en-US" dirty="0">
                <a:solidFill>
                  <a:srgbClr val="0070C0"/>
                </a:solidFill>
                <a:effectLst/>
              </a:rPr>
              <a:t>1.79</a:t>
            </a:r>
          </a:p>
          <a:p>
            <a:r>
              <a:rPr lang="en-US" dirty="0">
                <a:effectLst/>
              </a:rPr>
              <a:t>  Standard error of Mean (SEM): </a:t>
            </a:r>
            <a:r>
              <a:rPr lang="en-US" dirty="0">
                <a:solidFill>
                  <a:srgbClr val="0070C0"/>
                </a:solidFill>
                <a:effectLst/>
              </a:rPr>
              <a:t>0.36</a:t>
            </a:r>
          </a:p>
          <a:p>
            <a:r>
              <a:rPr lang="en-US" dirty="0">
                <a:effectLst/>
              </a:rPr>
              <a:t>  95% Confidence Interval for Goals: </a:t>
            </a:r>
            <a:r>
              <a:rPr lang="en-US" dirty="0">
                <a:solidFill>
                  <a:srgbClr val="0070C0"/>
                </a:solidFill>
                <a:effectLst/>
              </a:rPr>
              <a:t>(1.54, 3.02)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499948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5CB840F-8E41-4CA5-B79B-25CC80AD23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F183C1-F25B-99EF-4FAD-5D0EC06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1560" y="3396980"/>
            <a:ext cx="3153952" cy="1329769"/>
          </a:xfrm>
        </p:spPr>
        <p:txBody>
          <a:bodyPr>
            <a:normAutofit/>
          </a:bodyPr>
          <a:lstStyle/>
          <a:p>
            <a:pPr algn="l"/>
            <a:r>
              <a:rPr lang="en-US" sz="2800" dirty="0"/>
              <a:t>Distribution of goal scorer young vs old.</a:t>
            </a:r>
            <a:endParaRPr lang="en-AU" sz="28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EF75C5D-2BA1-43DF-A7EA-02C7DEC12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6008" y="965196"/>
            <a:ext cx="6581364" cy="4781641"/>
          </a:xfrm>
          <a:prstGeom prst="rect">
            <a:avLst/>
          </a:prstGeom>
          <a:solidFill>
            <a:schemeClr val="tx1"/>
          </a:solidFill>
          <a:ln w="190500">
            <a:solidFill>
              <a:srgbClr val="FFFFFF">
                <a:alpha val="7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graph of goals and goals&#10;&#10;AI-generated content may be incorrect.">
            <a:extLst>
              <a:ext uri="{FF2B5EF4-FFF2-40B4-BE49-F238E27FC236}">
                <a16:creationId xmlns:a16="http://schemas.microsoft.com/office/drawing/2014/main" id="{D3F4844C-F246-40B0-7F59-EB0BB4E8F4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1653146"/>
            <a:ext cx="5676236" cy="3405741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DEC20C31-DFB0-C474-8AB9-18CD8631E990}"/>
              </a:ext>
            </a:extLst>
          </p:cNvPr>
          <p:cNvSpPr txBox="1">
            <a:spLocks/>
          </p:cNvSpPr>
          <p:nvPr/>
        </p:nvSpPr>
        <p:spPr>
          <a:xfrm>
            <a:off x="1061560" y="1120813"/>
            <a:ext cx="3153952" cy="132976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en-US" sz="2800" dirty="0"/>
              <a:t>Histogram</a:t>
            </a: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7623521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41A49-AD16-F5E3-16C5-16D9A16EF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b="1" dirty="0">
                <a:effectLst/>
              </a:rPr>
              <a:t>(Two-Sample t-Test)</a:t>
            </a:r>
            <a:r>
              <a:rPr lang="en-AU" dirty="0">
                <a:effectLst/>
              </a:rPr>
              <a:t>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3B19B-604C-3C46-B290-1F396849F0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T-Statistic: -0.2165</a:t>
            </a:r>
          </a:p>
          <a:p>
            <a:r>
              <a:rPr lang="en-US" dirty="0">
                <a:effectLst/>
              </a:rPr>
              <a:t>P-Value: 0.8296</a:t>
            </a:r>
          </a:p>
          <a:p>
            <a:r>
              <a:rPr lang="en-US" dirty="0">
                <a:effectLst/>
              </a:rPr>
              <a:t>Conclusion: Fail to reject the null hypothesis H0: No statistically significant difference</a:t>
            </a:r>
            <a:br>
              <a:rPr lang="en-US" dirty="0">
                <a:effectLst/>
              </a:rPr>
            </a:br>
            <a:endParaRPr lang="en-US" dirty="0">
              <a:effectLst/>
            </a:endParaRP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15343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5335-AB58-D2AA-BA39-3B5C5CC7F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Conclusion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620440-B550-5C51-FE7F-D01E45087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Using different statistical method helped me learn</a:t>
            </a:r>
          </a:p>
        </p:txBody>
      </p:sp>
    </p:spTree>
    <p:extLst>
      <p:ext uri="{BB962C8B-B14F-4D97-AF65-F5344CB8AC3E}">
        <p14:creationId xmlns:p14="http://schemas.microsoft.com/office/powerpoint/2010/main" val="101513980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Arial Nova">
      <a:majorFont>
        <a:latin typeface="Arial Nova Light"/>
        <a:ea typeface=""/>
        <a:cs typeface=""/>
      </a:majorFont>
      <a:minorFont>
        <a:latin typeface="Arial Nova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7E70FC5-1855-47AB-8CE1-CB3C873A8988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30CB38EC-895A-4F8F-8F75-E263501ABB5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560E646-30AD-4BA0-97EA-A7A07DF549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Integer pillars</Template>
  <TotalTime>225</TotalTime>
  <Words>303</Words>
  <Application>Microsoft Office PowerPoint</Application>
  <PresentationFormat>Widescreen</PresentationFormat>
  <Paragraphs>55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 Nova</vt:lpstr>
      <vt:lpstr>Arial Nova Light</vt:lpstr>
      <vt:lpstr>Wingdings 2</vt:lpstr>
      <vt:lpstr>SlateVTI</vt:lpstr>
      <vt:lpstr>DATA SCIENCE - Analytic task </vt:lpstr>
      <vt:lpstr>Analytic question formulation  </vt:lpstr>
      <vt:lpstr>Results</vt:lpstr>
      <vt:lpstr>Do older veteran players get more goals?</vt:lpstr>
      <vt:lpstr>Younger players vs Older players </vt:lpstr>
      <vt:lpstr>Older players vs younger players </vt:lpstr>
      <vt:lpstr>Distribution of goal scorer young vs old.</vt:lpstr>
      <vt:lpstr>(Two-Sample t-Test) </vt:lpstr>
      <vt:lpstr>Conclusion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Simon Lemi Kenyi</dc:creator>
  <cp:lastModifiedBy>Stephen Simon Lemi Kenyi</cp:lastModifiedBy>
  <cp:revision>7</cp:revision>
  <dcterms:created xsi:type="dcterms:W3CDTF">2026-09-09T07:51:49Z</dcterms:created>
  <dcterms:modified xsi:type="dcterms:W3CDTF">2026-09-10T01:29:48Z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